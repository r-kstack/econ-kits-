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Today is the first lesson of economics — the one idea underneath the entire subject: we can't have everything, so we have to choose. Don't hand out anything yet; start with the question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only. Signpost the hour: three ideas, each builds on the last. Part C (opportunity cost) is the one they'll be examined on for two years — flag that it matters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'Australia produces about 2.7 trillion dollars of goods and services a year. And yet — hospital queues, housing shortage, budget fights. If we're that rich, why can't we just have everything?' Take 2-3 answers. You're listening for any version of 'there isn't enough to go around' — that's scarcity, and you'll name it in a few slides. Don't correct anyone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5 seconds. Say: 'Part A. Two definitions, then the problem they create.'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 need keeps you alive. A want makes life better. Here's the crucial feature of wants: they are UNLIMITED. The moment you get the thing, a new want replaces it.' TIP: ask for the last thing they wanted and got — then ask what they want now. The laugh IS the lesson. MISCONCEPTION WATCH: students say expensive = want, cheap = need. Wrong test — a $2 want is still a want. The test is survival, not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'Unlimited wants colliding with limited resources — that collision is called scarcity, and it is THE economic problem. Every other idea in this course is a response to it.' MISCONCEPTION WATCH: scarcity is not the same as poverty or shortage. Australia is rich AND everything is scarce — because wants always outrun resources. A shortage is temporary; scarcity is permanent,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card and tell it as a story — don't read all three. Localise if you can: your town's water restrictions, your suburb's rental market, the tradie shortage on a local project. ASK: 'What's scarce around here?' Any sensible answer works. TIP: if a student says 'money is scarce' — good instinct, but push one level deeper: money is just the claim ticket; the scarce things are the real resources it buys.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'We said resources are limited. Let's be precise about what a resource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work clockwise. 'Land is anything nature provides — not just dirt. Labour is human effort. Capital is the tricky one: goods used to MAKE other goods, not money.' MISCONCEPTION WATCH — the big one this lesson: capital does NOT mean money in economics. Money buys capital; the machine is the capital. Expect to correct this three times; that's normal. TIP: the income chips (rent/wages/interest/profit) are HSC gold — they reappear in Topic 2 and the income distribution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Think-pair-share, 3 minutes. Cold-call after pairs have talked — safer for a new subject. Q5 is the trap and the point: money is NOT a factor of production. If most of the class falls for it, celebrate — 'you've just met the most common error in HSC economics.' Reveal answers line by line (they're on the slide in small text — keep them covered until ready or read from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of the lesson. Slow down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definition aloud twice — it's the sentence they must be able to write from memory. MISCONCEPTION WATCH (examiners love this): opportunity cost is the NEXT BEST alternative only, not the sum of all alternatives. If you choose the beach over both the movies and study, the opportunity cost is whichever ONE of those you'd have ranked second — not both. Also: a choice can have zero dollar cost and still have a big opportunity cost. Free things aren't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slowly. The ranking column is what makes the logic visible — the opportunity cost is defined by the ranking, not the dollar values. CHECK: change the ranking (make the beach 2nd) and re-ask. If they can answer 'a day at the beach' — and notice that an opportunity cost doesn't need a dollar figure — they've got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quick and neutral — the point is the LOGIC transfers from a Saturday to the Budget, not which spending is right. Invite one student to name the opportunity cost if the government picks submarines (answer: whichever alternative was next best — there's no single 'correct' one without a ranking, which is exactly why Budget debates are fierce). The italic extension line is for a strong class; skip it freely.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by asking, not telling: point at each term and have a different student define it. Then set the worksheet (15 min) and the exit quiz (10 min, phones/laptops fine — it marks itself and results come to EconKits and can be shared with you). If time is short, the quiz can be homework — it's the worksheet that needs your circulation.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43D"/>
        </a:solidFill>
      </p:bgPr>
    </p:bg>
    <p:spTree>
      <p:nvGrpSpPr>
        <p:cNvPr id="1" name=""/>
        <p:cNvGrpSpPr/>
        <p:nvPr/>
      </p:nvGrpSpPr>
      <p:grpSpPr>
        <a:xfrm>
          <a:off x="0" y="0"/>
          <a:ext cx="0" cy="0"/>
          <a:chOff x="0" y="0"/>
          <a:chExt cx="0" cy="0"/>
        </a:xfrm>
      </p:grpSpPr>
      <p:sp>
        <p:nvSpPr>
          <p:cNvPr id="2" name="Text 0"/>
          <p:cNvSpPr/>
          <p:nvPr/>
        </p:nvSpPr>
        <p:spPr>
          <a:xfrm>
            <a:off x="822960" y="1371600"/>
            <a:ext cx="10058400" cy="365760"/>
          </a:xfrm>
          <a:prstGeom prst="rect">
            <a:avLst/>
          </a:prstGeom>
          <a:noFill/>
          <a:ln/>
        </p:spPr>
        <p:txBody>
          <a:bodyPr wrap="square" rtlCol="0" anchor="ctr"/>
          <a:lstStyle/>
          <a:p>
            <a:pPr indent="0" marL="0">
              <a:buNone/>
            </a:pPr>
            <a:r>
              <a:rPr lang="en-US" sz="1400" b="1" spc="300" kern="0" dirty="0">
                <a:solidFill>
                  <a:srgbClr val="9FB6D9"/>
                </a:solidFill>
                <a:latin typeface="Arial" pitchFamily="34" charset="0"/>
                <a:ea typeface="Arial" pitchFamily="34" charset="-122"/>
                <a:cs typeface="Arial" pitchFamily="34" charset="-120"/>
              </a:rPr>
              <a:t>KIT 01 · PRELIMINARY TOPIC 1 · LESSON 1</a:t>
            </a:r>
            <a:endParaRPr lang="en-US" sz="1400" dirty="0"/>
          </a:p>
        </p:txBody>
      </p:sp>
      <p:sp>
        <p:nvSpPr>
          <p:cNvPr id="3" name="Text 1"/>
          <p:cNvSpPr/>
          <p:nvPr/>
        </p:nvSpPr>
        <p:spPr>
          <a:xfrm>
            <a:off x="822960" y="1828800"/>
            <a:ext cx="10515600" cy="1188720"/>
          </a:xfrm>
          <a:prstGeom prst="rect">
            <a:avLst/>
          </a:prstGeom>
          <a:noFill/>
          <a:ln/>
        </p:spPr>
        <p:txBody>
          <a:bodyPr wrap="square" rtlCol="0" anchor="ctr"/>
          <a:lstStyle/>
          <a:p>
            <a:pPr indent="0" marL="0">
              <a:buNone/>
            </a:pPr>
            <a:r>
              <a:rPr lang="en-US" sz="5400" b="1" dirty="0">
                <a:solidFill>
                  <a:srgbClr val="FFFFFF"/>
                </a:solidFill>
                <a:latin typeface="Arial" pitchFamily="34" charset="0"/>
                <a:ea typeface="Arial" pitchFamily="34" charset="-122"/>
                <a:cs typeface="Arial" pitchFamily="34" charset="-120"/>
              </a:rPr>
              <a:t>The Economic Problem</a:t>
            </a:r>
            <a:endParaRPr lang="en-US" sz="5400" dirty="0"/>
          </a:p>
        </p:txBody>
      </p:sp>
      <p:sp>
        <p:nvSpPr>
          <p:cNvPr id="4" name="Text 2"/>
          <p:cNvSpPr/>
          <p:nvPr/>
        </p:nvSpPr>
        <p:spPr>
          <a:xfrm>
            <a:off x="822960" y="3108960"/>
            <a:ext cx="10058400" cy="457200"/>
          </a:xfrm>
          <a:prstGeom prst="rect">
            <a:avLst/>
          </a:prstGeom>
          <a:noFill/>
          <a:ln/>
        </p:spPr>
        <p:txBody>
          <a:bodyPr wrap="square" rtlCol="0" anchor="ctr"/>
          <a:lstStyle/>
          <a:p>
            <a:pPr indent="0" marL="0">
              <a:buNone/>
            </a:pPr>
            <a:r>
              <a:rPr lang="en-US" sz="2000" dirty="0">
                <a:solidFill>
                  <a:srgbClr val="CADCFC"/>
                </a:solidFill>
                <a:latin typeface="Arial" pitchFamily="34" charset="0"/>
                <a:ea typeface="Arial" pitchFamily="34" charset="-122"/>
                <a:cs typeface="Arial" pitchFamily="34" charset="-120"/>
              </a:rPr>
              <a:t>Needs and wants · Scarcity · Opportunity cost</a:t>
            </a:r>
            <a:endParaRPr lang="en-US" sz="2000" dirty="0"/>
          </a:p>
        </p:txBody>
      </p:sp>
      <p:sp>
        <p:nvSpPr>
          <p:cNvPr id="5" name="Text 3"/>
          <p:cNvSpPr/>
          <p:nvPr/>
        </p:nvSpPr>
        <p:spPr>
          <a:xfrm>
            <a:off x="822960" y="5852160"/>
            <a:ext cx="1005840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Econ</a:t>
            </a:r>
            <a:pPr indent="0" marL="0">
              <a:buNone/>
            </a:pPr>
            <a:r>
              <a:rPr lang="en-US" sz="1400" b="1" dirty="0">
                <a:solidFill>
                  <a:srgbClr val="6FA3E0"/>
                </a:solidFill>
                <a:latin typeface="Arial" pitchFamily="34" charset="0"/>
                <a:ea typeface="Arial" pitchFamily="34" charset="-122"/>
                <a:cs typeface="Arial" pitchFamily="34" charset="-120"/>
              </a:rPr>
              <a:t>Kits</a:t>
            </a:r>
            <a:pPr indent="0" marL="0">
              <a:buNone/>
            </a:pPr>
            <a:r>
              <a:rPr lang="en-US" sz="1400" dirty="0">
                <a:solidFill>
                  <a:srgbClr val="9FB6D9"/>
                </a:solidFill>
                <a:latin typeface="Arial" pitchFamily="34" charset="0"/>
                <a:ea typeface="Arial" pitchFamily="34" charset="-122"/>
                <a:cs typeface="Arial" pitchFamily="34" charset="-120"/>
              </a:rPr>
              <a:t>   Free economics education for all Australian students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indent="0" marL="0">
              <a:buNone/>
            </a:pPr>
            <a:r>
              <a:rPr lang="en-US" sz="3600" b="1" dirty="0">
                <a:solidFill>
                  <a:srgbClr val="16243D"/>
                </a:solidFill>
                <a:latin typeface="Arial" pitchFamily="34" charset="0"/>
                <a:ea typeface="Arial" pitchFamily="34" charset="-122"/>
                <a:cs typeface="Arial" pitchFamily="34" charset="-120"/>
              </a:rPr>
              <a:t>Today, in three parts</a:t>
            </a:r>
            <a:endParaRPr lang="en-US" sz="3600" dirty="0"/>
          </a:p>
        </p:txBody>
      </p:sp>
      <p:sp>
        <p:nvSpPr>
          <p:cNvPr id="3" name="Shape 1"/>
          <p:cNvSpPr/>
          <p:nvPr/>
        </p:nvSpPr>
        <p:spPr>
          <a:xfrm>
            <a:off x="548640" y="1463040"/>
            <a:ext cx="11064240" cy="1325880"/>
          </a:xfrm>
          <a:prstGeom prst="roundRect">
            <a:avLst>
              <a:gd name="adj" fmla="val 5517"/>
            </a:avLst>
          </a:prstGeom>
          <a:solidFill>
            <a:srgbClr val="EDF2F9"/>
          </a:solidFill>
          <a:ln/>
        </p:spPr>
      </p:sp>
      <p:sp>
        <p:nvSpPr>
          <p:cNvPr id="4" name="Shape 2"/>
          <p:cNvSpPr/>
          <p:nvPr/>
        </p:nvSpPr>
        <p:spPr>
          <a:xfrm>
            <a:off x="868680" y="1783080"/>
            <a:ext cx="685800" cy="685800"/>
          </a:xfrm>
          <a:prstGeom prst="ellipse">
            <a:avLst/>
          </a:prstGeom>
          <a:solidFill>
            <a:srgbClr val="1F5FA8"/>
          </a:solidFill>
          <a:ln/>
        </p:spPr>
      </p:sp>
      <p:sp>
        <p:nvSpPr>
          <p:cNvPr id="5" name="Text 3"/>
          <p:cNvSpPr/>
          <p:nvPr/>
        </p:nvSpPr>
        <p:spPr>
          <a:xfrm>
            <a:off x="868680" y="178308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A</a:t>
            </a:r>
            <a:endParaRPr lang="en-US" sz="2400" dirty="0"/>
          </a:p>
        </p:txBody>
      </p:sp>
      <p:sp>
        <p:nvSpPr>
          <p:cNvPr id="6" name="Text 4"/>
          <p:cNvSpPr/>
          <p:nvPr/>
        </p:nvSpPr>
        <p:spPr>
          <a:xfrm>
            <a:off x="1828800" y="1664208"/>
            <a:ext cx="9509760" cy="457200"/>
          </a:xfrm>
          <a:prstGeom prst="rect">
            <a:avLst/>
          </a:prstGeom>
          <a:noFill/>
          <a:ln/>
        </p:spPr>
        <p:txBody>
          <a:bodyPr wrap="square" lIns="0" tIns="0" rIns="0" bIns="0" rtlCol="0" anchor="ctr"/>
          <a:lstStyle/>
          <a:p>
            <a:pPr indent="0" marL="0">
              <a:buNone/>
            </a:pPr>
            <a:r>
              <a:rPr lang="en-US" sz="2000" b="1" dirty="0">
                <a:solidFill>
                  <a:srgbClr val="16243D"/>
                </a:solidFill>
                <a:latin typeface="Arial" pitchFamily="34" charset="0"/>
                <a:ea typeface="Arial" pitchFamily="34" charset="-122"/>
                <a:cs typeface="Arial" pitchFamily="34" charset="-120"/>
              </a:rPr>
              <a:t>Needs, wants and the economic problem</a:t>
            </a:r>
            <a:endParaRPr lang="en-US" sz="2000" dirty="0"/>
          </a:p>
        </p:txBody>
      </p:sp>
      <p:sp>
        <p:nvSpPr>
          <p:cNvPr id="7" name="Text 5"/>
          <p:cNvSpPr/>
          <p:nvPr/>
        </p:nvSpPr>
        <p:spPr>
          <a:xfrm>
            <a:off x="1828800" y="2148840"/>
            <a:ext cx="9509760" cy="411480"/>
          </a:xfrm>
          <a:prstGeom prst="rect">
            <a:avLst/>
          </a:prstGeom>
          <a:noFill/>
          <a:ln/>
        </p:spPr>
        <p:txBody>
          <a:bodyPr wrap="square" lIns="0" tIns="0" rIns="0" bIns="0" rtlCol="0" anchor="ctr"/>
          <a:lstStyle/>
          <a:p>
            <a:pPr indent="0" marL="0">
              <a:buNone/>
            </a:pPr>
            <a:r>
              <a:rPr lang="en-US" sz="1500" dirty="0">
                <a:solidFill>
                  <a:srgbClr val="5C6270"/>
                </a:solidFill>
                <a:latin typeface="Arial" pitchFamily="34" charset="0"/>
                <a:ea typeface="Arial" pitchFamily="34" charset="-122"/>
                <a:cs typeface="Arial" pitchFamily="34" charset="-120"/>
              </a:rPr>
              <a:t>Why even a rich country can't have everything</a:t>
            </a:r>
            <a:endParaRPr lang="en-US" sz="1500" dirty="0"/>
          </a:p>
        </p:txBody>
      </p:sp>
      <p:sp>
        <p:nvSpPr>
          <p:cNvPr id="8" name="Shape 6"/>
          <p:cNvSpPr/>
          <p:nvPr/>
        </p:nvSpPr>
        <p:spPr>
          <a:xfrm>
            <a:off x="548640" y="3063240"/>
            <a:ext cx="11064240" cy="1325880"/>
          </a:xfrm>
          <a:prstGeom prst="roundRect">
            <a:avLst>
              <a:gd name="adj" fmla="val 5517"/>
            </a:avLst>
          </a:prstGeom>
          <a:solidFill>
            <a:srgbClr val="EDF2F9"/>
          </a:solidFill>
          <a:ln/>
        </p:spPr>
      </p:sp>
      <p:sp>
        <p:nvSpPr>
          <p:cNvPr id="9" name="Shape 7"/>
          <p:cNvSpPr/>
          <p:nvPr/>
        </p:nvSpPr>
        <p:spPr>
          <a:xfrm>
            <a:off x="868680" y="3383280"/>
            <a:ext cx="685800" cy="685800"/>
          </a:xfrm>
          <a:prstGeom prst="ellipse">
            <a:avLst/>
          </a:prstGeom>
          <a:solidFill>
            <a:srgbClr val="1F5FA8"/>
          </a:solidFill>
          <a:ln/>
        </p:spPr>
      </p:sp>
      <p:sp>
        <p:nvSpPr>
          <p:cNvPr id="10" name="Text 8"/>
          <p:cNvSpPr/>
          <p:nvPr/>
        </p:nvSpPr>
        <p:spPr>
          <a:xfrm>
            <a:off x="868680" y="338328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B</a:t>
            </a:r>
            <a:endParaRPr lang="en-US" sz="2400" dirty="0"/>
          </a:p>
        </p:txBody>
      </p:sp>
      <p:sp>
        <p:nvSpPr>
          <p:cNvPr id="11" name="Text 9"/>
          <p:cNvSpPr/>
          <p:nvPr/>
        </p:nvSpPr>
        <p:spPr>
          <a:xfrm>
            <a:off x="1828800" y="3264408"/>
            <a:ext cx="9509760" cy="457200"/>
          </a:xfrm>
          <a:prstGeom prst="rect">
            <a:avLst/>
          </a:prstGeom>
          <a:noFill/>
          <a:ln/>
        </p:spPr>
        <p:txBody>
          <a:bodyPr wrap="square" lIns="0" tIns="0" rIns="0" bIns="0" rtlCol="0" anchor="ctr"/>
          <a:lstStyle/>
          <a:p>
            <a:pPr indent="0" marL="0">
              <a:buNone/>
            </a:pPr>
            <a:r>
              <a:rPr lang="en-US" sz="2000" b="1" dirty="0">
                <a:solidFill>
                  <a:srgbClr val="16243D"/>
                </a:solidFill>
                <a:latin typeface="Arial" pitchFamily="34" charset="0"/>
                <a:ea typeface="Arial" pitchFamily="34" charset="-122"/>
                <a:cs typeface="Arial" pitchFamily="34" charset="-120"/>
              </a:rPr>
              <a:t>Resources — the four factors of production</a:t>
            </a:r>
            <a:endParaRPr lang="en-US" sz="2000" dirty="0"/>
          </a:p>
        </p:txBody>
      </p:sp>
      <p:sp>
        <p:nvSpPr>
          <p:cNvPr id="12" name="Text 10"/>
          <p:cNvSpPr/>
          <p:nvPr/>
        </p:nvSpPr>
        <p:spPr>
          <a:xfrm>
            <a:off x="1828800" y="3749040"/>
            <a:ext cx="9509760" cy="411480"/>
          </a:xfrm>
          <a:prstGeom prst="rect">
            <a:avLst/>
          </a:prstGeom>
          <a:noFill/>
          <a:ln/>
        </p:spPr>
        <p:txBody>
          <a:bodyPr wrap="square" lIns="0" tIns="0" rIns="0" bIns="0" rtlCol="0" anchor="ctr"/>
          <a:lstStyle/>
          <a:p>
            <a:pPr indent="0" marL="0">
              <a:buNone/>
            </a:pPr>
            <a:r>
              <a:rPr lang="en-US" sz="1500" dirty="0">
                <a:solidFill>
                  <a:srgbClr val="5C6270"/>
                </a:solidFill>
                <a:latin typeface="Arial" pitchFamily="34" charset="0"/>
                <a:ea typeface="Arial" pitchFamily="34" charset="-122"/>
                <a:cs typeface="Arial" pitchFamily="34" charset="-120"/>
              </a:rPr>
              <a:t>What Australia actually has to work with</a:t>
            </a:r>
            <a:endParaRPr lang="en-US" sz="1500" dirty="0"/>
          </a:p>
        </p:txBody>
      </p:sp>
      <p:sp>
        <p:nvSpPr>
          <p:cNvPr id="13" name="Shape 11"/>
          <p:cNvSpPr/>
          <p:nvPr/>
        </p:nvSpPr>
        <p:spPr>
          <a:xfrm>
            <a:off x="548640" y="4663440"/>
            <a:ext cx="11064240" cy="1325880"/>
          </a:xfrm>
          <a:prstGeom prst="roundRect">
            <a:avLst>
              <a:gd name="adj" fmla="val 5517"/>
            </a:avLst>
          </a:prstGeom>
          <a:solidFill>
            <a:srgbClr val="EDF2F9"/>
          </a:solidFill>
          <a:ln/>
        </p:spPr>
      </p:sp>
      <p:sp>
        <p:nvSpPr>
          <p:cNvPr id="14" name="Shape 12"/>
          <p:cNvSpPr/>
          <p:nvPr/>
        </p:nvSpPr>
        <p:spPr>
          <a:xfrm>
            <a:off x="868680" y="4983480"/>
            <a:ext cx="685800" cy="685800"/>
          </a:xfrm>
          <a:prstGeom prst="ellipse">
            <a:avLst/>
          </a:prstGeom>
          <a:solidFill>
            <a:srgbClr val="C33D2E"/>
          </a:solidFill>
          <a:ln/>
        </p:spPr>
      </p:sp>
      <p:sp>
        <p:nvSpPr>
          <p:cNvPr id="15" name="Text 13"/>
          <p:cNvSpPr/>
          <p:nvPr/>
        </p:nvSpPr>
        <p:spPr>
          <a:xfrm>
            <a:off x="868680" y="498348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C</a:t>
            </a:r>
            <a:endParaRPr lang="en-US" sz="2400" dirty="0"/>
          </a:p>
        </p:txBody>
      </p:sp>
      <p:sp>
        <p:nvSpPr>
          <p:cNvPr id="16" name="Text 14"/>
          <p:cNvSpPr/>
          <p:nvPr/>
        </p:nvSpPr>
        <p:spPr>
          <a:xfrm>
            <a:off x="1828800" y="4864608"/>
            <a:ext cx="9509760" cy="457200"/>
          </a:xfrm>
          <a:prstGeom prst="rect">
            <a:avLst/>
          </a:prstGeom>
          <a:noFill/>
          <a:ln/>
        </p:spPr>
        <p:txBody>
          <a:bodyPr wrap="square" lIns="0" tIns="0" rIns="0" bIns="0" rtlCol="0" anchor="ctr"/>
          <a:lstStyle/>
          <a:p>
            <a:pPr indent="0" marL="0">
              <a:buNone/>
            </a:pPr>
            <a:r>
              <a:rPr lang="en-US" sz="2000" b="1" dirty="0">
                <a:solidFill>
                  <a:srgbClr val="16243D"/>
                </a:solidFill>
                <a:latin typeface="Arial" pitchFamily="34" charset="0"/>
                <a:ea typeface="Arial" pitchFamily="34" charset="-122"/>
                <a:cs typeface="Arial" pitchFamily="34" charset="-120"/>
              </a:rPr>
              <a:t>Opportunity cost</a:t>
            </a:r>
            <a:endParaRPr lang="en-US" sz="2000" dirty="0"/>
          </a:p>
        </p:txBody>
      </p:sp>
      <p:sp>
        <p:nvSpPr>
          <p:cNvPr id="17" name="Text 15"/>
          <p:cNvSpPr/>
          <p:nvPr/>
        </p:nvSpPr>
        <p:spPr>
          <a:xfrm>
            <a:off x="1828800" y="5349240"/>
            <a:ext cx="9509760" cy="411480"/>
          </a:xfrm>
          <a:prstGeom prst="rect">
            <a:avLst/>
          </a:prstGeom>
          <a:noFill/>
          <a:ln/>
        </p:spPr>
        <p:txBody>
          <a:bodyPr wrap="square" lIns="0" tIns="0" rIns="0" bIns="0" rtlCol="0" anchor="ctr"/>
          <a:lstStyle/>
          <a:p>
            <a:pPr indent="0" marL="0">
              <a:buNone/>
            </a:pPr>
            <a:r>
              <a:rPr lang="en-US" sz="1500" dirty="0">
                <a:solidFill>
                  <a:srgbClr val="5C6270"/>
                </a:solidFill>
                <a:latin typeface="Arial" pitchFamily="34" charset="0"/>
                <a:ea typeface="Arial" pitchFamily="34" charset="-122"/>
                <a:cs typeface="Arial" pitchFamily="34" charset="-120"/>
              </a:rPr>
              <a:t>The real price of every choice you make</a:t>
            </a:r>
            <a:endParaRPr lang="en-US" sz="1500" dirty="0"/>
          </a:p>
        </p:txBody>
      </p:sp>
      <p:sp>
        <p:nvSpPr>
          <p:cNvPr id="18" name="Text 16"/>
          <p:cNvSpPr/>
          <p:nvPr/>
        </p:nvSpPr>
        <p:spPr>
          <a:xfrm>
            <a:off x="548640" y="6382512"/>
            <a:ext cx="8229600" cy="320040"/>
          </a:xfrm>
          <a:prstGeom prst="rect">
            <a:avLst/>
          </a:prstGeom>
          <a:noFill/>
          <a:ln/>
        </p:spPr>
        <p:txBody>
          <a:bodyPr wrap="square" lIns="0" tIns="0" rIns="0" bIns="0" rtlCol="0" anchor="ctr"/>
          <a:lstStyle/>
          <a:p>
            <a:pPr indent="0" marL="0">
              <a:buNone/>
            </a:pPr>
            <a:r>
              <a:rPr lang="en-US" sz="1000" b="1" dirty="0">
                <a:solidFill>
                  <a:srgbClr val="16243D"/>
                </a:solidFill>
                <a:latin typeface="Arial" pitchFamily="34" charset="0"/>
                <a:ea typeface="Arial" pitchFamily="34" charset="-122"/>
                <a:cs typeface="Arial" pitchFamily="34" charset="-120"/>
              </a:rPr>
              <a:t>EconKits</a:t>
            </a:r>
            <a:pPr indent="0" marL="0">
              <a:buNone/>
            </a:pPr>
            <a:r>
              <a:rPr lang="en-US" sz="1000" dirty="0">
                <a:solidFill>
                  <a:srgbClr val="5C6270"/>
                </a:solidFill>
                <a:latin typeface="Arial" pitchFamily="34" charset="0"/>
                <a:ea typeface="Arial" pitchFamily="34" charset="-122"/>
                <a:cs typeface="Arial" pitchFamily="34" charset="-120"/>
              </a:rPr>
              <a:t>  ·  Kit 01 · Lesson 1 — The Economic Problem</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43D"/>
        </a:solidFill>
      </p:bgPr>
    </p:bg>
    <p:spTree>
      <p:nvGrpSpPr>
        <p:cNvPr id="1" name=""/>
        <p:cNvGrpSpPr/>
        <p:nvPr/>
      </p:nvGrpSpPr>
      <p:grpSpPr>
        <a:xfrm>
          <a:off x="0" y="0"/>
          <a:ext cx="0" cy="0"/>
          <a:chOff x="0" y="0"/>
          <a:chExt cx="0" cy="0"/>
        </a:xfrm>
      </p:grpSpPr>
      <p:sp>
        <p:nvSpPr>
          <p:cNvPr id="2" name="Text 0"/>
          <p:cNvSpPr/>
          <p:nvPr/>
        </p:nvSpPr>
        <p:spPr>
          <a:xfrm>
            <a:off x="822960" y="1554480"/>
            <a:ext cx="10515600" cy="1005840"/>
          </a:xfrm>
          <a:prstGeom prst="rect">
            <a:avLst/>
          </a:prstGeom>
          <a:noFill/>
          <a:ln/>
        </p:spPr>
        <p:txBody>
          <a:bodyPr wrap="square" rtlCol="0" anchor="ctr"/>
          <a:lstStyle/>
          <a:p>
            <a:pPr indent="0" marL="0">
              <a:buNone/>
            </a:pPr>
            <a:r>
              <a:rPr lang="en-US" sz="4400" b="1" dirty="0">
                <a:solidFill>
                  <a:srgbClr val="FFFFFF"/>
                </a:solidFill>
                <a:latin typeface="Arial" pitchFamily="34" charset="0"/>
                <a:ea typeface="Arial" pitchFamily="34" charset="-122"/>
                <a:cs typeface="Arial" pitchFamily="34" charset="-120"/>
              </a:rPr>
              <a:t>Why can't we have everything?</a:t>
            </a:r>
            <a:endParaRPr lang="en-US" sz="4400" dirty="0"/>
          </a:p>
        </p:txBody>
      </p:sp>
      <p:sp>
        <p:nvSpPr>
          <p:cNvPr id="3" name="Text 1"/>
          <p:cNvSpPr/>
          <p:nvPr/>
        </p:nvSpPr>
        <p:spPr>
          <a:xfrm>
            <a:off x="822960" y="2743200"/>
            <a:ext cx="9875520" cy="1097280"/>
          </a:xfrm>
          <a:prstGeom prst="rect">
            <a:avLst/>
          </a:prstGeom>
          <a:noFill/>
          <a:ln/>
        </p:spPr>
        <p:txBody>
          <a:bodyPr wrap="square" rtlCol="0" anchor="ctr"/>
          <a:lstStyle/>
          <a:p>
            <a:pPr indent="0" marL="0">
              <a:buNone/>
            </a:pPr>
            <a:r>
              <a:rPr lang="en-US" sz="1900" dirty="0">
                <a:solidFill>
                  <a:srgbClr val="CADCFC"/>
                </a:solidFill>
                <a:latin typeface="Arial" pitchFamily="34" charset="0"/>
                <a:ea typeface="Arial" pitchFamily="34" charset="-122"/>
                <a:cs typeface="Arial" pitchFamily="34" charset="-120"/>
              </a:rPr>
              <a:t>Australia is one of the richest countries on Earth. So why are there hospital waiting lists, a housing shortage, and arguments every May about what the Budget can afford?</a:t>
            </a:r>
            <a:endParaRPr lang="en-US" sz="1900" dirty="0"/>
          </a:p>
        </p:txBody>
      </p:sp>
      <p:sp>
        <p:nvSpPr>
          <p:cNvPr id="4" name="Text 2"/>
          <p:cNvSpPr/>
          <p:nvPr/>
        </p:nvSpPr>
        <p:spPr>
          <a:xfrm>
            <a:off x="822960" y="4206240"/>
            <a:ext cx="7315200" cy="457200"/>
          </a:xfrm>
          <a:prstGeom prst="rect">
            <a:avLst/>
          </a:prstGeom>
          <a:noFill/>
          <a:ln/>
        </p:spPr>
        <p:txBody>
          <a:bodyPr wrap="square" rtlCol="0" anchor="ctr"/>
          <a:lstStyle/>
          <a:p>
            <a:pPr indent="0" marL="0">
              <a:buNone/>
            </a:pPr>
            <a:r>
              <a:rPr lang="en-US" sz="1500" i="1" dirty="0">
                <a:solidFill>
                  <a:srgbClr val="9FB6D9"/>
                </a:solidFill>
                <a:latin typeface="Arial" pitchFamily="34" charset="0"/>
                <a:ea typeface="Arial" pitchFamily="34" charset="-122"/>
                <a:cs typeface="Arial" pitchFamily="34" charset="-120"/>
              </a:rPr>
              <a:t>Discuss with the person next to you — 90 seconds.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22960"/>
            <a:ext cx="914400" cy="914400"/>
          </a:xfrm>
          <a:prstGeom prst="ellipse">
            <a:avLst/>
          </a:prstGeom>
          <a:solidFill>
            <a:srgbClr val="1F5FA8"/>
          </a:solidFill>
          <a:ln/>
        </p:spPr>
      </p:sp>
      <p:sp>
        <p:nvSpPr>
          <p:cNvPr id="3" name="Text 1"/>
          <p:cNvSpPr/>
          <p:nvPr/>
        </p:nvSpPr>
        <p:spPr>
          <a:xfrm>
            <a:off x="548640" y="82296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A</a:t>
            </a:r>
            <a:endParaRPr lang="en-US" sz="3200" dirty="0"/>
          </a:p>
        </p:txBody>
      </p:sp>
      <p:sp>
        <p:nvSpPr>
          <p:cNvPr id="4" name="Text 2"/>
          <p:cNvSpPr/>
          <p:nvPr/>
        </p:nvSpPr>
        <p:spPr>
          <a:xfrm>
            <a:off x="548640" y="2011680"/>
            <a:ext cx="10972800" cy="822960"/>
          </a:xfrm>
          <a:prstGeom prst="rect">
            <a:avLst/>
          </a:prstGeom>
          <a:noFill/>
          <a:ln/>
        </p:spPr>
        <p:txBody>
          <a:bodyPr wrap="square" rtlCol="0" anchor="ctr"/>
          <a:lstStyle/>
          <a:p>
            <a:pPr indent="0" marL="0">
              <a:buNone/>
            </a:pPr>
            <a:r>
              <a:rPr lang="en-US" sz="4000" b="1" dirty="0">
                <a:solidFill>
                  <a:srgbClr val="16243D"/>
                </a:solidFill>
                <a:latin typeface="Arial" pitchFamily="34" charset="0"/>
                <a:ea typeface="Arial" pitchFamily="34" charset="-122"/>
                <a:cs typeface="Arial" pitchFamily="34" charset="-120"/>
              </a:rPr>
              <a:t>Needs, wants and the economic problem</a:t>
            </a:r>
            <a:endParaRPr lang="en-US" sz="4000" dirty="0"/>
          </a:p>
        </p:txBody>
      </p:sp>
      <p:sp>
        <p:nvSpPr>
          <p:cNvPr id="5" name="Text 3"/>
          <p:cNvSpPr/>
          <p:nvPr/>
        </p:nvSpPr>
        <p:spPr>
          <a:xfrm>
            <a:off x="548640" y="2926080"/>
            <a:ext cx="9144000" cy="457200"/>
          </a:xfrm>
          <a:prstGeom prst="rect">
            <a:avLst/>
          </a:prstGeom>
          <a:noFill/>
          <a:ln/>
        </p:spPr>
        <p:txBody>
          <a:bodyPr wrap="square" rtlCol="0" anchor="ctr"/>
          <a:lstStyle/>
          <a:p>
            <a:pPr indent="0" marL="0">
              <a:buNone/>
            </a:pPr>
            <a:r>
              <a:rPr lang="en-US" sz="1800" dirty="0">
                <a:solidFill>
                  <a:srgbClr val="5C6270"/>
                </a:solidFill>
                <a:latin typeface="Arial" pitchFamily="34" charset="0"/>
                <a:ea typeface="Arial" pitchFamily="34" charset="-122"/>
                <a:cs typeface="Arial" pitchFamily="34" charset="-120"/>
              </a:rPr>
              <a:t>Two definitions, one collision.</a:t>
            </a:r>
            <a:endParaRPr lang="en-US" sz="1800" dirty="0"/>
          </a:p>
        </p:txBody>
      </p:sp>
      <p:sp>
        <p:nvSpPr>
          <p:cNvPr id="6" name="Text 4"/>
          <p:cNvSpPr/>
          <p:nvPr/>
        </p:nvSpPr>
        <p:spPr>
          <a:xfrm>
            <a:off x="548640" y="6382512"/>
            <a:ext cx="8229600" cy="320040"/>
          </a:xfrm>
          <a:prstGeom prst="rect">
            <a:avLst/>
          </a:prstGeom>
          <a:noFill/>
          <a:ln/>
        </p:spPr>
        <p:txBody>
          <a:bodyPr wrap="square" lIns="0" tIns="0" rIns="0" bIns="0" rtlCol="0" anchor="ctr"/>
          <a:lstStyle/>
          <a:p>
            <a:pPr indent="0" marL="0">
              <a:buNone/>
            </a:pPr>
            <a:r>
              <a:rPr lang="en-US" sz="1000" b="1" dirty="0">
                <a:solidFill>
                  <a:srgbClr val="16243D"/>
                </a:solidFill>
                <a:latin typeface="Arial" pitchFamily="34" charset="0"/>
                <a:ea typeface="Arial" pitchFamily="34" charset="-122"/>
                <a:cs typeface="Arial" pitchFamily="34" charset="-120"/>
              </a:rPr>
              <a:t>EconKits</a:t>
            </a:r>
            <a:pPr indent="0" marL="0">
              <a:buNone/>
            </a:pPr>
            <a:r>
              <a:rPr lang="en-US" sz="1000" dirty="0">
                <a:solidFill>
                  <a:srgbClr val="5C6270"/>
                </a:solidFill>
                <a:latin typeface="Arial" pitchFamily="34" charset="0"/>
                <a:ea typeface="Arial" pitchFamily="34" charset="-122"/>
                <a:cs typeface="Arial" pitchFamily="34" charset="-120"/>
              </a:rPr>
              <a:t>  ·  Kit 01 · Lesson 1 — The Economic Problem</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600" b="1" dirty="0">
                <a:solidFill>
                  <a:srgbClr val="16243D"/>
                </a:solidFill>
                <a:latin typeface="Arial" pitchFamily="34" charset="0"/>
                <a:ea typeface="Arial" pitchFamily="34" charset="-122"/>
                <a:cs typeface="Arial" pitchFamily="34" charset="-120"/>
              </a:rPr>
              <a:t>Needs vs wants</a:t>
            </a:r>
            <a:endParaRPr lang="en-US" sz="3600" dirty="0"/>
          </a:p>
        </p:txBody>
      </p:sp>
      <p:sp>
        <p:nvSpPr>
          <p:cNvPr id="3" name="Shape 1"/>
          <p:cNvSpPr/>
          <p:nvPr/>
        </p:nvSpPr>
        <p:spPr>
          <a:xfrm>
            <a:off x="548640" y="1280160"/>
            <a:ext cx="5394960" cy="4206240"/>
          </a:xfrm>
          <a:prstGeom prst="roundRect">
            <a:avLst>
              <a:gd name="adj" fmla="val 1739"/>
            </a:avLst>
          </a:prstGeom>
          <a:solidFill>
            <a:srgbClr val="EDF2F9"/>
          </a:solidFill>
          <a:ln/>
        </p:spPr>
      </p:sp>
      <p:sp>
        <p:nvSpPr>
          <p:cNvPr id="4" name="Text 2"/>
          <p:cNvSpPr/>
          <p:nvPr/>
        </p:nvSpPr>
        <p:spPr>
          <a:xfrm>
            <a:off x="914400" y="1554480"/>
            <a:ext cx="4663440" cy="457200"/>
          </a:xfrm>
          <a:prstGeom prst="rect">
            <a:avLst/>
          </a:prstGeom>
          <a:noFill/>
          <a:ln/>
        </p:spPr>
        <p:txBody>
          <a:bodyPr wrap="square" lIns="0" tIns="0" rIns="0" bIns="0" rtlCol="0" anchor="ctr"/>
          <a:lstStyle/>
          <a:p>
            <a:pPr indent="0" marL="0">
              <a:buNone/>
            </a:pPr>
            <a:r>
              <a:rPr lang="en-US" sz="1800" b="1" dirty="0">
                <a:solidFill>
                  <a:srgbClr val="1F5FA8"/>
                </a:solidFill>
                <a:latin typeface="Arial" pitchFamily="34" charset="0"/>
                <a:ea typeface="Arial" pitchFamily="34" charset="-122"/>
                <a:cs typeface="Arial" pitchFamily="34" charset="-120"/>
              </a:rPr>
              <a:t>NEEDS</a:t>
            </a:r>
            <a:endParaRPr lang="en-US" sz="1800" dirty="0"/>
          </a:p>
        </p:txBody>
      </p:sp>
      <p:sp>
        <p:nvSpPr>
          <p:cNvPr id="5" name="Text 3"/>
          <p:cNvSpPr/>
          <p:nvPr/>
        </p:nvSpPr>
        <p:spPr>
          <a:xfrm>
            <a:off x="914400" y="2057400"/>
            <a:ext cx="4663440" cy="548640"/>
          </a:xfrm>
          <a:prstGeom prst="rect">
            <a:avLst/>
          </a:prstGeom>
          <a:noFill/>
          <a:ln/>
        </p:spPr>
        <p:txBody>
          <a:bodyPr wrap="square" lIns="0" tIns="0" rIns="0" bIns="0" rtlCol="0" anchor="ctr"/>
          <a:lstStyle/>
          <a:p>
            <a:pPr indent="0" marL="0">
              <a:buNone/>
            </a:pPr>
            <a:r>
              <a:rPr lang="en-US" sz="1600" dirty="0">
                <a:solidFill>
                  <a:srgbClr val="16243D"/>
                </a:solidFill>
                <a:latin typeface="Arial" pitchFamily="34" charset="0"/>
                <a:ea typeface="Arial" pitchFamily="34" charset="-122"/>
                <a:cs typeface="Arial" pitchFamily="34" charset="-120"/>
              </a:rPr>
              <a:t>Goods and services essential for survival.</a:t>
            </a:r>
            <a:endParaRPr lang="en-US" sz="1600" dirty="0"/>
          </a:p>
        </p:txBody>
      </p:sp>
      <p:sp>
        <p:nvSpPr>
          <p:cNvPr id="6" name="Text 4"/>
          <p:cNvSpPr/>
          <p:nvPr/>
        </p:nvSpPr>
        <p:spPr>
          <a:xfrm>
            <a:off x="914400" y="2743200"/>
            <a:ext cx="4663440" cy="2377440"/>
          </a:xfrm>
          <a:prstGeom prst="rect">
            <a:avLst/>
          </a:prstGeom>
          <a:noFill/>
          <a:ln/>
        </p:spPr>
        <p:txBody>
          <a:bodyPr wrap="square" rtlCol="0" anchor="ctr"/>
          <a:lstStyle/>
          <a:p>
            <a:pPr marL="342900" indent="-342900">
              <a:spcAft>
                <a:spcPts val="800"/>
              </a:spcAft>
              <a:buSzPct val="100000"/>
              <a:buChar char="•"/>
            </a:pPr>
            <a:r>
              <a:rPr lang="en-US" sz="1500" dirty="0">
                <a:solidFill>
                  <a:srgbClr val="16243D"/>
                </a:solidFill>
                <a:latin typeface="Arial" pitchFamily="34" charset="0"/>
                <a:ea typeface="Arial" pitchFamily="34" charset="-122"/>
                <a:cs typeface="Arial" pitchFamily="34" charset="-120"/>
              </a:rPr>
              <a:t>Food and clean water</a:t>
            </a:r>
            <a:endParaRPr lang="en-US" sz="1500" dirty="0"/>
          </a:p>
          <a:p>
            <a:pPr marL="342900" indent="-342900">
              <a:spcAft>
                <a:spcPts val="800"/>
              </a:spcAft>
              <a:buSzPct val="100000"/>
              <a:buChar char="•"/>
            </a:pPr>
            <a:r>
              <a:rPr lang="en-US" sz="1500" dirty="0">
                <a:solidFill>
                  <a:srgbClr val="16243D"/>
                </a:solidFill>
                <a:latin typeface="Arial" pitchFamily="34" charset="0"/>
                <a:ea typeface="Arial" pitchFamily="34" charset="-122"/>
                <a:cs typeface="Arial" pitchFamily="34" charset="-120"/>
              </a:rPr>
              <a:t>Shelter — somewhere to live</a:t>
            </a:r>
            <a:endParaRPr lang="en-US" sz="1500" dirty="0"/>
          </a:p>
          <a:p>
            <a:pPr marL="342900" indent="-342900">
              <a:spcAft>
                <a:spcPts val="800"/>
              </a:spcAft>
              <a:buSzPct val="100000"/>
              <a:buChar char="•"/>
            </a:pPr>
            <a:r>
              <a:rPr lang="en-US" sz="1500" dirty="0">
                <a:solidFill>
                  <a:srgbClr val="16243D"/>
                </a:solidFill>
                <a:latin typeface="Arial" pitchFamily="34" charset="0"/>
                <a:ea typeface="Arial" pitchFamily="34" charset="-122"/>
                <a:cs typeface="Arial" pitchFamily="34" charset="-120"/>
              </a:rPr>
              <a:t>Basic healthcare (a Medicare GP visit)</a:t>
            </a:r>
            <a:endParaRPr lang="en-US" sz="1500" dirty="0"/>
          </a:p>
          <a:p>
            <a:pPr marL="342900" indent="-342900">
              <a:spcAft>
                <a:spcPts val="800"/>
              </a:spcAft>
              <a:buSzPct val="100000"/>
              <a:buChar char="•"/>
            </a:pPr>
            <a:r>
              <a:rPr lang="en-US" sz="1500" dirty="0">
                <a:solidFill>
                  <a:srgbClr val="16243D"/>
                </a:solidFill>
                <a:latin typeface="Arial" pitchFamily="34" charset="0"/>
                <a:ea typeface="Arial" pitchFamily="34" charset="-122"/>
                <a:cs typeface="Arial" pitchFamily="34" charset="-120"/>
              </a:rPr>
              <a:t>Basic clothing</a:t>
            </a:r>
            <a:endParaRPr lang="en-US" sz="1500" dirty="0"/>
          </a:p>
        </p:txBody>
      </p:sp>
      <p:sp>
        <p:nvSpPr>
          <p:cNvPr id="7" name="Shape 5"/>
          <p:cNvSpPr/>
          <p:nvPr/>
        </p:nvSpPr>
        <p:spPr>
          <a:xfrm>
            <a:off x="6263640" y="1280160"/>
            <a:ext cx="5394960" cy="4206240"/>
          </a:xfrm>
          <a:prstGeom prst="roundRect">
            <a:avLst>
              <a:gd name="adj" fmla="val 1739"/>
            </a:avLst>
          </a:prstGeom>
          <a:solidFill>
            <a:srgbClr val="FBEBE9"/>
          </a:solidFill>
          <a:ln/>
        </p:spPr>
      </p:sp>
      <p:sp>
        <p:nvSpPr>
          <p:cNvPr id="8" name="Text 6"/>
          <p:cNvSpPr/>
          <p:nvPr/>
        </p:nvSpPr>
        <p:spPr>
          <a:xfrm>
            <a:off x="6629400" y="1554480"/>
            <a:ext cx="4663440" cy="457200"/>
          </a:xfrm>
          <a:prstGeom prst="rect">
            <a:avLst/>
          </a:prstGeom>
          <a:noFill/>
          <a:ln/>
        </p:spPr>
        <p:txBody>
          <a:bodyPr wrap="square" lIns="0" tIns="0" rIns="0" bIns="0" rtlCol="0" anchor="ctr"/>
          <a:lstStyle/>
          <a:p>
            <a:pPr indent="0" marL="0">
              <a:buNone/>
            </a:pPr>
            <a:r>
              <a:rPr lang="en-US" sz="1800" b="1" dirty="0">
                <a:solidFill>
                  <a:srgbClr val="C33D2E"/>
                </a:solidFill>
                <a:latin typeface="Arial" pitchFamily="34" charset="0"/>
                <a:ea typeface="Arial" pitchFamily="34" charset="-122"/>
                <a:cs typeface="Arial" pitchFamily="34" charset="-120"/>
              </a:rPr>
              <a:t>WANTS</a:t>
            </a:r>
            <a:endParaRPr lang="en-US" sz="1800" dirty="0"/>
          </a:p>
        </p:txBody>
      </p:sp>
      <p:sp>
        <p:nvSpPr>
          <p:cNvPr id="9" name="Text 7"/>
          <p:cNvSpPr/>
          <p:nvPr/>
        </p:nvSpPr>
        <p:spPr>
          <a:xfrm>
            <a:off x="6629400" y="2057400"/>
            <a:ext cx="4663440" cy="548640"/>
          </a:xfrm>
          <a:prstGeom prst="rect">
            <a:avLst/>
          </a:prstGeom>
          <a:noFill/>
          <a:ln/>
        </p:spPr>
        <p:txBody>
          <a:bodyPr wrap="square" lIns="0" tIns="0" rIns="0" bIns="0" rtlCol="0" anchor="ctr"/>
          <a:lstStyle/>
          <a:p>
            <a:pPr indent="0" marL="0">
              <a:buNone/>
            </a:pPr>
            <a:r>
              <a:rPr lang="en-US" sz="1600" dirty="0">
                <a:solidFill>
                  <a:srgbClr val="16243D"/>
                </a:solidFill>
                <a:latin typeface="Arial" pitchFamily="34" charset="0"/>
                <a:ea typeface="Arial" pitchFamily="34" charset="-122"/>
                <a:cs typeface="Arial" pitchFamily="34" charset="-120"/>
              </a:rPr>
              <a:t>Desires that improve our lives — and never run out.</a:t>
            </a:r>
            <a:endParaRPr lang="en-US" sz="1600" dirty="0"/>
          </a:p>
        </p:txBody>
      </p:sp>
      <p:sp>
        <p:nvSpPr>
          <p:cNvPr id="10" name="Text 8"/>
          <p:cNvSpPr/>
          <p:nvPr/>
        </p:nvSpPr>
        <p:spPr>
          <a:xfrm>
            <a:off x="6629400" y="2743200"/>
            <a:ext cx="4663440" cy="2377440"/>
          </a:xfrm>
          <a:prstGeom prst="rect">
            <a:avLst/>
          </a:prstGeom>
          <a:noFill/>
          <a:ln/>
        </p:spPr>
        <p:txBody>
          <a:bodyPr wrap="square" rtlCol="0" anchor="ctr"/>
          <a:lstStyle/>
          <a:p>
            <a:pPr marL="342900" indent="-342900">
              <a:spcAft>
                <a:spcPts val="800"/>
              </a:spcAft>
              <a:buSzPct val="100000"/>
              <a:buChar char="•"/>
            </a:pPr>
            <a:r>
              <a:rPr lang="en-US" sz="1500" dirty="0">
                <a:solidFill>
                  <a:srgbClr val="16243D"/>
                </a:solidFill>
                <a:latin typeface="Arial" pitchFamily="34" charset="0"/>
                <a:ea typeface="Arial" pitchFamily="34" charset="-122"/>
                <a:cs typeface="Arial" pitchFamily="34" charset="-120"/>
              </a:rPr>
              <a:t>Concert tickets, streaming, the new phone</a:t>
            </a:r>
            <a:endParaRPr lang="en-US" sz="1500" dirty="0"/>
          </a:p>
          <a:p>
            <a:pPr marL="342900" indent="-342900">
              <a:spcAft>
                <a:spcPts val="800"/>
              </a:spcAft>
              <a:buSzPct val="100000"/>
              <a:buChar char="•"/>
            </a:pPr>
            <a:r>
              <a:rPr lang="en-US" sz="1500" dirty="0">
                <a:solidFill>
                  <a:srgbClr val="16243D"/>
                </a:solidFill>
                <a:latin typeface="Arial" pitchFamily="34" charset="0"/>
                <a:ea typeface="Arial" pitchFamily="34" charset="-122"/>
                <a:cs typeface="Arial" pitchFamily="34" charset="-120"/>
              </a:rPr>
              <a:t>Eating out instead of cooking</a:t>
            </a:r>
            <a:endParaRPr lang="en-US" sz="1500" dirty="0"/>
          </a:p>
          <a:p>
            <a:pPr marL="342900" indent="-342900">
              <a:spcAft>
                <a:spcPts val="800"/>
              </a:spcAft>
              <a:buSzPct val="100000"/>
              <a:buChar char="•"/>
            </a:pPr>
            <a:r>
              <a:rPr lang="en-US" sz="1500" dirty="0">
                <a:solidFill>
                  <a:srgbClr val="16243D"/>
                </a:solidFill>
                <a:latin typeface="Arial" pitchFamily="34" charset="0"/>
                <a:ea typeface="Arial" pitchFamily="34" charset="-122"/>
                <a:cs typeface="Arial" pitchFamily="34" charset="-120"/>
              </a:rPr>
              <a:t>A bigger house in a better suburb</a:t>
            </a:r>
            <a:endParaRPr lang="en-US" sz="1500" dirty="0"/>
          </a:p>
          <a:p>
            <a:pPr marL="342900" indent="-342900">
              <a:spcAft>
                <a:spcPts val="800"/>
              </a:spcAft>
              <a:buSzPct val="100000"/>
              <a:buChar char="•"/>
            </a:pPr>
            <a:r>
              <a:rPr lang="en-US" sz="1500" b="1" dirty="0">
                <a:solidFill>
                  <a:srgbClr val="16243D"/>
                </a:solidFill>
                <a:latin typeface="Arial" pitchFamily="34" charset="0"/>
                <a:ea typeface="Arial" pitchFamily="34" charset="-122"/>
                <a:cs typeface="Arial" pitchFamily="34" charset="-120"/>
              </a:rPr>
              <a:t>Satisfy one want — another appears</a:t>
            </a:r>
            <a:endParaRPr lang="en-US" sz="1500" dirty="0"/>
          </a:p>
        </p:txBody>
      </p:sp>
      <p:sp>
        <p:nvSpPr>
          <p:cNvPr id="11" name="Text 9"/>
          <p:cNvSpPr/>
          <p:nvPr/>
        </p:nvSpPr>
        <p:spPr>
          <a:xfrm>
            <a:off x="548640" y="6382512"/>
            <a:ext cx="8229600" cy="320040"/>
          </a:xfrm>
          <a:prstGeom prst="rect">
            <a:avLst/>
          </a:prstGeom>
          <a:noFill/>
          <a:ln/>
        </p:spPr>
        <p:txBody>
          <a:bodyPr wrap="square" lIns="0" tIns="0" rIns="0" bIns="0" rtlCol="0" anchor="ctr"/>
          <a:lstStyle/>
          <a:p>
            <a:pPr indent="0" marL="0">
              <a:buNone/>
            </a:pPr>
            <a:r>
              <a:rPr lang="en-US" sz="1000" b="1" dirty="0">
                <a:solidFill>
                  <a:srgbClr val="16243D"/>
                </a:solidFill>
                <a:latin typeface="Arial" pitchFamily="34" charset="0"/>
                <a:ea typeface="Arial" pitchFamily="34" charset="-122"/>
                <a:cs typeface="Arial" pitchFamily="34" charset="-120"/>
              </a:rPr>
              <a:t>EconKits</a:t>
            </a:r>
            <a:pPr indent="0" marL="0">
              <a:buNone/>
            </a:pPr>
            <a:r>
              <a:rPr lang="en-US" sz="1000" dirty="0">
                <a:solidFill>
                  <a:srgbClr val="5C6270"/>
                </a:solidFill>
                <a:latin typeface="Arial" pitchFamily="34" charset="0"/>
                <a:ea typeface="Arial" pitchFamily="34" charset="-122"/>
                <a:cs typeface="Arial" pitchFamily="34" charset="-120"/>
              </a:rPr>
              <a:t>  ·  Kit 01 · Lesson 1 — The Economic Problem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600" b="1" dirty="0">
                <a:solidFill>
                  <a:srgbClr val="16243D"/>
                </a:solidFill>
                <a:latin typeface="Arial" pitchFamily="34" charset="0"/>
                <a:ea typeface="Arial" pitchFamily="34" charset="-122"/>
                <a:cs typeface="Arial" pitchFamily="34" charset="-120"/>
              </a:rPr>
              <a:t>The economic problem</a:t>
            </a:r>
            <a:endParaRPr lang="en-US" sz="3600" dirty="0"/>
          </a:p>
        </p:txBody>
      </p:sp>
      <p:sp>
        <p:nvSpPr>
          <p:cNvPr id="3" name="Shape 1"/>
          <p:cNvSpPr/>
          <p:nvPr/>
        </p:nvSpPr>
        <p:spPr>
          <a:xfrm>
            <a:off x="731520" y="1554480"/>
            <a:ext cx="4297680" cy="1737360"/>
          </a:xfrm>
          <a:prstGeom prst="roundRect">
            <a:avLst>
              <a:gd name="adj" fmla="val 4211"/>
            </a:avLst>
          </a:prstGeom>
          <a:solidFill>
            <a:srgbClr val="C33D2E"/>
          </a:solidFill>
          <a:ln/>
        </p:spPr>
      </p:sp>
      <p:sp>
        <p:nvSpPr>
          <p:cNvPr id="4" name="Text 2"/>
          <p:cNvSpPr/>
          <p:nvPr/>
        </p:nvSpPr>
        <p:spPr>
          <a:xfrm>
            <a:off x="731520" y="1874520"/>
            <a:ext cx="429768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UNLIMITED wants</a:t>
            </a:r>
            <a:endParaRPr lang="en-US" sz="2400" dirty="0"/>
          </a:p>
        </p:txBody>
      </p:sp>
      <p:sp>
        <p:nvSpPr>
          <p:cNvPr id="5" name="Text 3"/>
          <p:cNvSpPr/>
          <p:nvPr/>
        </p:nvSpPr>
        <p:spPr>
          <a:xfrm>
            <a:off x="731520" y="2468880"/>
            <a:ext cx="4297680" cy="457200"/>
          </a:xfrm>
          <a:prstGeom prst="rect">
            <a:avLst/>
          </a:prstGeom>
          <a:noFill/>
          <a:ln/>
        </p:spPr>
        <p:txBody>
          <a:bodyPr wrap="square" lIns="0" tIns="0" rIns="0" bIns="0" rtlCol="0" anchor="ctr"/>
          <a:lstStyle/>
          <a:p>
            <a:pPr algn="ctr" indent="0" marL="0">
              <a:buNone/>
            </a:pPr>
            <a:r>
              <a:rPr lang="en-US" sz="1400" dirty="0">
                <a:solidFill>
                  <a:srgbClr val="FBEBE9"/>
                </a:solidFill>
                <a:latin typeface="Arial" pitchFamily="34" charset="0"/>
                <a:ea typeface="Arial" pitchFamily="34" charset="-122"/>
                <a:cs typeface="Arial" pitchFamily="34" charset="-120"/>
              </a:rPr>
              <a:t>everyone, always, everywhere</a:t>
            </a:r>
            <a:endParaRPr lang="en-US" sz="1400" dirty="0"/>
          </a:p>
        </p:txBody>
      </p:sp>
      <p:sp>
        <p:nvSpPr>
          <p:cNvPr id="6" name="Shape 4"/>
          <p:cNvSpPr/>
          <p:nvPr/>
        </p:nvSpPr>
        <p:spPr>
          <a:xfrm>
            <a:off x="7132320" y="1554480"/>
            <a:ext cx="4297680" cy="1737360"/>
          </a:xfrm>
          <a:prstGeom prst="roundRect">
            <a:avLst>
              <a:gd name="adj" fmla="val 4211"/>
            </a:avLst>
          </a:prstGeom>
          <a:solidFill>
            <a:srgbClr val="1F5FA8"/>
          </a:solidFill>
          <a:ln/>
        </p:spPr>
      </p:sp>
      <p:sp>
        <p:nvSpPr>
          <p:cNvPr id="7" name="Text 5"/>
          <p:cNvSpPr/>
          <p:nvPr/>
        </p:nvSpPr>
        <p:spPr>
          <a:xfrm>
            <a:off x="7132320" y="1874520"/>
            <a:ext cx="429768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LIMITED resources</a:t>
            </a:r>
            <a:endParaRPr lang="en-US" sz="2400" dirty="0"/>
          </a:p>
        </p:txBody>
      </p:sp>
      <p:sp>
        <p:nvSpPr>
          <p:cNvPr id="8" name="Text 6"/>
          <p:cNvSpPr/>
          <p:nvPr/>
        </p:nvSpPr>
        <p:spPr>
          <a:xfrm>
            <a:off x="7132320" y="2468880"/>
            <a:ext cx="4297680" cy="457200"/>
          </a:xfrm>
          <a:prstGeom prst="rect">
            <a:avLst/>
          </a:prstGeom>
          <a:noFill/>
          <a:ln/>
        </p:spPr>
        <p:txBody>
          <a:bodyPr wrap="square" lIns="0" tIns="0" rIns="0" bIns="0" rtlCol="0" anchor="ctr"/>
          <a:lstStyle/>
          <a:p>
            <a:pPr algn="ctr" indent="0" marL="0">
              <a:buNone/>
            </a:pPr>
            <a:r>
              <a:rPr lang="en-US" sz="1400" dirty="0">
                <a:solidFill>
                  <a:srgbClr val="CADCFC"/>
                </a:solidFill>
                <a:latin typeface="Arial" pitchFamily="34" charset="0"/>
                <a:ea typeface="Arial" pitchFamily="34" charset="-122"/>
                <a:cs typeface="Arial" pitchFamily="34" charset="-120"/>
              </a:rPr>
              <a:t>land, workers, machines, ideas</a:t>
            </a:r>
            <a:endParaRPr lang="en-US" sz="1400" dirty="0"/>
          </a:p>
        </p:txBody>
      </p:sp>
      <p:sp>
        <p:nvSpPr>
          <p:cNvPr id="9" name="Text 7"/>
          <p:cNvSpPr/>
          <p:nvPr/>
        </p:nvSpPr>
        <p:spPr>
          <a:xfrm>
            <a:off x="5577840" y="1965960"/>
            <a:ext cx="1005840" cy="914400"/>
          </a:xfrm>
          <a:prstGeom prst="rect">
            <a:avLst/>
          </a:prstGeom>
          <a:noFill/>
          <a:ln/>
        </p:spPr>
        <p:txBody>
          <a:bodyPr wrap="square" lIns="0" tIns="0" rIns="0" bIns="0" rtlCol="0" anchor="ctr"/>
          <a:lstStyle/>
          <a:p>
            <a:pPr algn="ctr" indent="0" marL="0">
              <a:buNone/>
            </a:pPr>
            <a:r>
              <a:rPr lang="en-US" sz="4800" b="1" dirty="0">
                <a:solidFill>
                  <a:srgbClr val="16243D"/>
                </a:solidFill>
                <a:latin typeface="Arial" pitchFamily="34" charset="0"/>
                <a:ea typeface="Arial" pitchFamily="34" charset="-122"/>
                <a:cs typeface="Arial" pitchFamily="34" charset="-120"/>
              </a:rPr>
              <a:t>×</a:t>
            </a:r>
            <a:endParaRPr lang="en-US" sz="4800" dirty="0"/>
          </a:p>
        </p:txBody>
      </p:sp>
      <p:sp>
        <p:nvSpPr>
          <p:cNvPr id="10" name="Shape 8"/>
          <p:cNvSpPr/>
          <p:nvPr/>
        </p:nvSpPr>
        <p:spPr>
          <a:xfrm>
            <a:off x="5632704" y="3520440"/>
            <a:ext cx="914400" cy="777240"/>
          </a:xfrm>
          <a:prstGeom prst="downArrow">
            <a:avLst/>
          </a:prstGeom>
          <a:solidFill>
            <a:srgbClr val="5C6270"/>
          </a:solidFill>
          <a:ln/>
        </p:spPr>
      </p:sp>
      <p:sp>
        <p:nvSpPr>
          <p:cNvPr id="11" name="Shape 9"/>
          <p:cNvSpPr/>
          <p:nvPr/>
        </p:nvSpPr>
        <p:spPr>
          <a:xfrm>
            <a:off x="2651760" y="4480560"/>
            <a:ext cx="6858000" cy="1463040"/>
          </a:xfrm>
          <a:prstGeom prst="roundRect">
            <a:avLst>
              <a:gd name="adj" fmla="val 5000"/>
            </a:avLst>
          </a:prstGeom>
          <a:solidFill>
            <a:srgbClr val="16243D"/>
          </a:solidFill>
          <a:ln/>
        </p:spPr>
      </p:sp>
      <p:sp>
        <p:nvSpPr>
          <p:cNvPr id="12" name="Text 10"/>
          <p:cNvSpPr/>
          <p:nvPr/>
        </p:nvSpPr>
        <p:spPr>
          <a:xfrm>
            <a:off x="2651760" y="4709160"/>
            <a:ext cx="685800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SCARCITY</a:t>
            </a:r>
            <a:endParaRPr lang="en-US" sz="2600" dirty="0"/>
          </a:p>
        </p:txBody>
      </p:sp>
      <p:sp>
        <p:nvSpPr>
          <p:cNvPr id="13" name="Text 11"/>
          <p:cNvSpPr/>
          <p:nvPr/>
        </p:nvSpPr>
        <p:spPr>
          <a:xfrm>
            <a:off x="2651760" y="5303520"/>
            <a:ext cx="6858000" cy="457200"/>
          </a:xfrm>
          <a:prstGeom prst="rect">
            <a:avLst/>
          </a:prstGeom>
          <a:noFill/>
          <a:ln/>
        </p:spPr>
        <p:txBody>
          <a:bodyPr wrap="square" lIns="0" tIns="0" rIns="0" bIns="0" rtlCol="0" anchor="ctr"/>
          <a:lstStyle/>
          <a:p>
            <a:pPr algn="ctr" indent="0" marL="0">
              <a:buNone/>
            </a:pPr>
            <a:r>
              <a:rPr lang="en-US" sz="1500" dirty="0">
                <a:solidFill>
                  <a:srgbClr val="CADCFC"/>
                </a:solidFill>
                <a:latin typeface="Arial" pitchFamily="34" charset="0"/>
                <a:ea typeface="Arial" pitchFamily="34" charset="-122"/>
                <a:cs typeface="Arial" pitchFamily="34" charset="-120"/>
              </a:rPr>
              <a:t>so every person, business and government must CHOOSE</a:t>
            </a:r>
            <a:endParaRPr lang="en-US" sz="1500" dirty="0"/>
          </a:p>
        </p:txBody>
      </p:sp>
      <p:sp>
        <p:nvSpPr>
          <p:cNvPr id="14" name="Text 12"/>
          <p:cNvSpPr/>
          <p:nvPr/>
        </p:nvSpPr>
        <p:spPr>
          <a:xfrm>
            <a:off x="548640" y="6382512"/>
            <a:ext cx="8229600" cy="320040"/>
          </a:xfrm>
          <a:prstGeom prst="rect">
            <a:avLst/>
          </a:prstGeom>
          <a:noFill/>
          <a:ln/>
        </p:spPr>
        <p:txBody>
          <a:bodyPr wrap="square" lIns="0" tIns="0" rIns="0" bIns="0" rtlCol="0" anchor="ctr"/>
          <a:lstStyle/>
          <a:p>
            <a:pPr indent="0" marL="0">
              <a:buNone/>
            </a:pPr>
            <a:r>
              <a:rPr lang="en-US" sz="1000" b="1" dirty="0">
                <a:solidFill>
                  <a:srgbClr val="16243D"/>
                </a:solidFill>
                <a:latin typeface="Arial" pitchFamily="34" charset="0"/>
                <a:ea typeface="Arial" pitchFamily="34" charset="-122"/>
                <a:cs typeface="Arial" pitchFamily="34" charset="-120"/>
              </a:rPr>
              <a:t>EconKits</a:t>
            </a:r>
            <a:pPr indent="0" marL="0">
              <a:buNone/>
            </a:pPr>
            <a:r>
              <a:rPr lang="en-US" sz="1000" dirty="0">
                <a:solidFill>
                  <a:srgbClr val="5C6270"/>
                </a:solidFill>
                <a:latin typeface="Arial" pitchFamily="34" charset="0"/>
                <a:ea typeface="Arial" pitchFamily="34" charset="-122"/>
                <a:cs typeface="Arial" pitchFamily="34" charset="-120"/>
              </a:rPr>
              <a:t>  ·  Kit 01 · Lesson 1 — The Economic Problem</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600" b="1" dirty="0">
                <a:solidFill>
                  <a:srgbClr val="16243D"/>
                </a:solidFill>
                <a:latin typeface="Arial" pitchFamily="34" charset="0"/>
                <a:ea typeface="Arial" pitchFamily="34" charset="-122"/>
                <a:cs typeface="Arial" pitchFamily="34" charset="-120"/>
              </a:rPr>
              <a:t>Scarcity is everywhere in Australia</a:t>
            </a:r>
            <a:endParaRPr lang="en-US" sz="3600" dirty="0"/>
          </a:p>
        </p:txBody>
      </p:sp>
      <p:sp>
        <p:nvSpPr>
          <p:cNvPr id="3" name="Shape 1"/>
          <p:cNvSpPr/>
          <p:nvPr/>
        </p:nvSpPr>
        <p:spPr>
          <a:xfrm>
            <a:off x="548640" y="1371600"/>
            <a:ext cx="3520440" cy="4297680"/>
          </a:xfrm>
          <a:prstGeom prst="roundRect">
            <a:avLst>
              <a:gd name="adj" fmla="val 2078"/>
            </a:avLst>
          </a:prstGeom>
          <a:solidFill>
            <a:srgbClr val="EDF2F9"/>
          </a:solidFill>
          <a:ln/>
        </p:spPr>
      </p:sp>
      <p:sp>
        <p:nvSpPr>
          <p:cNvPr id="4" name="Shape 2"/>
          <p:cNvSpPr/>
          <p:nvPr/>
        </p:nvSpPr>
        <p:spPr>
          <a:xfrm>
            <a:off x="868680" y="1691640"/>
            <a:ext cx="502920" cy="502920"/>
          </a:xfrm>
          <a:prstGeom prst="ellipse">
            <a:avLst/>
          </a:prstGeom>
          <a:solidFill>
            <a:srgbClr val="1F5FA8"/>
          </a:solidFill>
          <a:ln/>
        </p:spPr>
      </p:sp>
      <p:sp>
        <p:nvSpPr>
          <p:cNvPr id="5" name="Text 3"/>
          <p:cNvSpPr/>
          <p:nvPr/>
        </p:nvSpPr>
        <p:spPr>
          <a:xfrm>
            <a:off x="1508760" y="1691640"/>
            <a:ext cx="2377440" cy="502920"/>
          </a:xfrm>
          <a:prstGeom prst="rect">
            <a:avLst/>
          </a:prstGeom>
          <a:noFill/>
          <a:ln/>
        </p:spPr>
        <p:txBody>
          <a:bodyPr wrap="square" lIns="0" tIns="0" rIns="0" bIns="0" rtlCol="0" anchor="ctr"/>
          <a:lstStyle/>
          <a:p>
            <a:pPr indent="0" marL="0">
              <a:buNone/>
            </a:pPr>
            <a:r>
              <a:rPr lang="en-US" sz="1800" b="1" dirty="0">
                <a:solidFill>
                  <a:srgbClr val="16243D"/>
                </a:solidFill>
                <a:latin typeface="Arial" pitchFamily="34" charset="0"/>
                <a:ea typeface="Arial" pitchFamily="34" charset="-122"/>
                <a:cs typeface="Arial" pitchFamily="34" charset="-120"/>
              </a:rPr>
              <a:t>Water</a:t>
            </a:r>
            <a:endParaRPr lang="en-US" sz="1800" dirty="0"/>
          </a:p>
        </p:txBody>
      </p:sp>
      <p:sp>
        <p:nvSpPr>
          <p:cNvPr id="6" name="Text 4"/>
          <p:cNvSpPr/>
          <p:nvPr/>
        </p:nvSpPr>
        <p:spPr>
          <a:xfrm>
            <a:off x="868680" y="2423160"/>
            <a:ext cx="2926080" cy="3017520"/>
          </a:xfrm>
          <a:prstGeom prst="rect">
            <a:avLst/>
          </a:prstGeom>
          <a:noFill/>
          <a:ln/>
        </p:spPr>
        <p:txBody>
          <a:bodyPr wrap="square" lIns="0" tIns="0" rIns="0" bIns="0" rtlCol="0" anchor="ctr"/>
          <a:lstStyle/>
          <a:p>
            <a:pPr indent="0" marL="0">
              <a:buNone/>
            </a:pPr>
            <a:r>
              <a:rPr lang="en-US" sz="1350" dirty="0">
                <a:solidFill>
                  <a:srgbClr val="16243D"/>
                </a:solidFill>
                <a:latin typeface="Arial" pitchFamily="34" charset="0"/>
                <a:ea typeface="Arial" pitchFamily="34" charset="-122"/>
                <a:cs typeface="Arial" pitchFamily="34" charset="-120"/>
              </a:rPr>
              <a:t>The Murray–Darling Basin grows ~40% of our food — but towns, farmers and the river itself all want more water than exists. Governments buy water back; farmers push back.</a:t>
            </a:r>
            <a:endParaRPr lang="en-US" sz="1350" dirty="0"/>
          </a:p>
        </p:txBody>
      </p:sp>
      <p:sp>
        <p:nvSpPr>
          <p:cNvPr id="7" name="Shape 5"/>
          <p:cNvSpPr/>
          <p:nvPr/>
        </p:nvSpPr>
        <p:spPr>
          <a:xfrm>
            <a:off x="4343400" y="1371600"/>
            <a:ext cx="3520440" cy="4297680"/>
          </a:xfrm>
          <a:prstGeom prst="roundRect">
            <a:avLst>
              <a:gd name="adj" fmla="val 2078"/>
            </a:avLst>
          </a:prstGeom>
          <a:solidFill>
            <a:srgbClr val="EDF2F9"/>
          </a:solidFill>
          <a:ln/>
        </p:spPr>
      </p:sp>
      <p:sp>
        <p:nvSpPr>
          <p:cNvPr id="8" name="Shape 6"/>
          <p:cNvSpPr/>
          <p:nvPr/>
        </p:nvSpPr>
        <p:spPr>
          <a:xfrm>
            <a:off x="4663440" y="1691640"/>
            <a:ext cx="502920" cy="502920"/>
          </a:xfrm>
          <a:prstGeom prst="ellipse">
            <a:avLst/>
          </a:prstGeom>
          <a:solidFill>
            <a:srgbClr val="C33D2E"/>
          </a:solidFill>
          <a:ln/>
        </p:spPr>
      </p:sp>
      <p:sp>
        <p:nvSpPr>
          <p:cNvPr id="9" name="Text 7"/>
          <p:cNvSpPr/>
          <p:nvPr/>
        </p:nvSpPr>
        <p:spPr>
          <a:xfrm>
            <a:off x="5303520" y="1691640"/>
            <a:ext cx="2377440" cy="502920"/>
          </a:xfrm>
          <a:prstGeom prst="rect">
            <a:avLst/>
          </a:prstGeom>
          <a:noFill/>
          <a:ln/>
        </p:spPr>
        <p:txBody>
          <a:bodyPr wrap="square" lIns="0" tIns="0" rIns="0" bIns="0" rtlCol="0" anchor="ctr"/>
          <a:lstStyle/>
          <a:p>
            <a:pPr indent="0" marL="0">
              <a:buNone/>
            </a:pPr>
            <a:r>
              <a:rPr lang="en-US" sz="1800" b="1" dirty="0">
                <a:solidFill>
                  <a:srgbClr val="16243D"/>
                </a:solidFill>
                <a:latin typeface="Arial" pitchFamily="34" charset="0"/>
                <a:ea typeface="Arial" pitchFamily="34" charset="-122"/>
                <a:cs typeface="Arial" pitchFamily="34" charset="-120"/>
              </a:rPr>
              <a:t>Housing</a:t>
            </a:r>
            <a:endParaRPr lang="en-US" sz="1800" dirty="0"/>
          </a:p>
        </p:txBody>
      </p:sp>
      <p:sp>
        <p:nvSpPr>
          <p:cNvPr id="10" name="Text 8"/>
          <p:cNvSpPr/>
          <p:nvPr/>
        </p:nvSpPr>
        <p:spPr>
          <a:xfrm>
            <a:off x="4663440" y="2423160"/>
            <a:ext cx="2926080" cy="3017520"/>
          </a:xfrm>
          <a:prstGeom prst="rect">
            <a:avLst/>
          </a:prstGeom>
          <a:noFill/>
          <a:ln/>
        </p:spPr>
        <p:txBody>
          <a:bodyPr wrap="square" lIns="0" tIns="0" rIns="0" bIns="0" rtlCol="0" anchor="ctr"/>
          <a:lstStyle/>
          <a:p>
            <a:pPr indent="0" marL="0">
              <a:buNone/>
            </a:pPr>
            <a:r>
              <a:rPr lang="en-US" sz="1350" dirty="0">
                <a:solidFill>
                  <a:srgbClr val="16243D"/>
                </a:solidFill>
                <a:latin typeface="Arial" pitchFamily="34" charset="0"/>
                <a:ea typeface="Arial" pitchFamily="34" charset="-122"/>
                <a:cs typeface="Arial" pitchFamily="34" charset="-120"/>
              </a:rPr>
              <a:t>Rental vacancy rates in our capital cities have sat near record lows — around 1–2%. More people want homes in the same suburbs than there are homes to rent.</a:t>
            </a:r>
            <a:endParaRPr lang="en-US" sz="1350" dirty="0"/>
          </a:p>
        </p:txBody>
      </p:sp>
      <p:sp>
        <p:nvSpPr>
          <p:cNvPr id="11" name="Shape 9"/>
          <p:cNvSpPr/>
          <p:nvPr/>
        </p:nvSpPr>
        <p:spPr>
          <a:xfrm>
            <a:off x="8138160" y="1371600"/>
            <a:ext cx="3520440" cy="4297680"/>
          </a:xfrm>
          <a:prstGeom prst="roundRect">
            <a:avLst>
              <a:gd name="adj" fmla="val 2078"/>
            </a:avLst>
          </a:prstGeom>
          <a:solidFill>
            <a:srgbClr val="EDF2F9"/>
          </a:solidFill>
          <a:ln/>
        </p:spPr>
      </p:sp>
      <p:sp>
        <p:nvSpPr>
          <p:cNvPr id="12" name="Shape 10"/>
          <p:cNvSpPr/>
          <p:nvPr/>
        </p:nvSpPr>
        <p:spPr>
          <a:xfrm>
            <a:off x="8458200" y="1691640"/>
            <a:ext cx="502920" cy="502920"/>
          </a:xfrm>
          <a:prstGeom prst="ellipse">
            <a:avLst/>
          </a:prstGeom>
          <a:solidFill>
            <a:srgbClr val="16243D"/>
          </a:solidFill>
          <a:ln/>
        </p:spPr>
      </p:sp>
      <p:sp>
        <p:nvSpPr>
          <p:cNvPr id="13" name="Text 11"/>
          <p:cNvSpPr/>
          <p:nvPr/>
        </p:nvSpPr>
        <p:spPr>
          <a:xfrm>
            <a:off x="9098280" y="1691640"/>
            <a:ext cx="2377440" cy="502920"/>
          </a:xfrm>
          <a:prstGeom prst="rect">
            <a:avLst/>
          </a:prstGeom>
          <a:noFill/>
          <a:ln/>
        </p:spPr>
        <p:txBody>
          <a:bodyPr wrap="square" lIns="0" tIns="0" rIns="0" bIns="0" rtlCol="0" anchor="ctr"/>
          <a:lstStyle/>
          <a:p>
            <a:pPr indent="0" marL="0">
              <a:buNone/>
            </a:pPr>
            <a:r>
              <a:rPr lang="en-US" sz="1800" b="1" dirty="0">
                <a:solidFill>
                  <a:srgbClr val="16243D"/>
                </a:solidFill>
                <a:latin typeface="Arial" pitchFamily="34" charset="0"/>
                <a:ea typeface="Arial" pitchFamily="34" charset="-122"/>
                <a:cs typeface="Arial" pitchFamily="34" charset="-120"/>
              </a:rPr>
              <a:t>Skilled workers</a:t>
            </a:r>
            <a:endParaRPr lang="en-US" sz="1800" dirty="0"/>
          </a:p>
        </p:txBody>
      </p:sp>
      <p:sp>
        <p:nvSpPr>
          <p:cNvPr id="14" name="Text 12"/>
          <p:cNvSpPr/>
          <p:nvPr/>
        </p:nvSpPr>
        <p:spPr>
          <a:xfrm>
            <a:off x="8458200" y="2423160"/>
            <a:ext cx="2926080" cy="3017520"/>
          </a:xfrm>
          <a:prstGeom prst="rect">
            <a:avLst/>
          </a:prstGeom>
          <a:noFill/>
          <a:ln/>
        </p:spPr>
        <p:txBody>
          <a:bodyPr wrap="square" lIns="0" tIns="0" rIns="0" bIns="0" rtlCol="0" anchor="ctr"/>
          <a:lstStyle/>
          <a:p>
            <a:pPr indent="0" marL="0">
              <a:buNone/>
            </a:pPr>
            <a:r>
              <a:rPr lang="en-US" sz="1350" dirty="0">
                <a:solidFill>
                  <a:srgbClr val="16243D"/>
                </a:solidFill>
                <a:latin typeface="Arial" pitchFamily="34" charset="0"/>
                <a:ea typeface="Arial" pitchFamily="34" charset="-122"/>
                <a:cs typeface="Arial" pitchFamily="34" charset="-120"/>
              </a:rPr>
              <a:t>Australia doesn't have enough electricians, nurses and construction workers for everything we're trying to build at once — that's why they're on the skilled migration list.</a:t>
            </a:r>
            <a:endParaRPr lang="en-US" sz="1350" dirty="0"/>
          </a:p>
        </p:txBody>
      </p:sp>
      <p:sp>
        <p:nvSpPr>
          <p:cNvPr id="15" name="Text 13"/>
          <p:cNvSpPr/>
          <p:nvPr/>
        </p:nvSpPr>
        <p:spPr>
          <a:xfrm>
            <a:off x="548640" y="6382512"/>
            <a:ext cx="8229600" cy="320040"/>
          </a:xfrm>
          <a:prstGeom prst="rect">
            <a:avLst/>
          </a:prstGeom>
          <a:noFill/>
          <a:ln/>
        </p:spPr>
        <p:txBody>
          <a:bodyPr wrap="square" lIns="0" tIns="0" rIns="0" bIns="0" rtlCol="0" anchor="ctr"/>
          <a:lstStyle/>
          <a:p>
            <a:pPr indent="0" marL="0">
              <a:buNone/>
            </a:pPr>
            <a:r>
              <a:rPr lang="en-US" sz="1000" b="1" dirty="0">
                <a:solidFill>
                  <a:srgbClr val="16243D"/>
                </a:solidFill>
                <a:latin typeface="Arial" pitchFamily="34" charset="0"/>
                <a:ea typeface="Arial" pitchFamily="34" charset="-122"/>
                <a:cs typeface="Arial" pitchFamily="34" charset="-120"/>
              </a:rPr>
              <a:t>EconKits</a:t>
            </a:r>
            <a:pPr indent="0" marL="0">
              <a:buNone/>
            </a:pPr>
            <a:r>
              <a:rPr lang="en-US" sz="1000" dirty="0">
                <a:solidFill>
                  <a:srgbClr val="5C6270"/>
                </a:solidFill>
                <a:latin typeface="Arial" pitchFamily="34" charset="0"/>
                <a:ea typeface="Arial" pitchFamily="34" charset="-122"/>
                <a:cs typeface="Arial" pitchFamily="34" charset="-120"/>
              </a:rPr>
              <a:t>  ·  Kit 01 · Lesson 1 — The Economic Problem</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22960"/>
            <a:ext cx="914400" cy="914400"/>
          </a:xfrm>
          <a:prstGeom prst="ellipse">
            <a:avLst/>
          </a:prstGeom>
          <a:solidFill>
            <a:srgbClr val="1F5FA8"/>
          </a:solidFill>
          <a:ln/>
        </p:spPr>
      </p:sp>
      <p:sp>
        <p:nvSpPr>
          <p:cNvPr id="3" name="Text 1"/>
          <p:cNvSpPr/>
          <p:nvPr/>
        </p:nvSpPr>
        <p:spPr>
          <a:xfrm>
            <a:off x="548640" y="82296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B</a:t>
            </a:r>
            <a:endParaRPr lang="en-US" sz="3200" dirty="0"/>
          </a:p>
        </p:txBody>
      </p:sp>
      <p:sp>
        <p:nvSpPr>
          <p:cNvPr id="4" name="Text 2"/>
          <p:cNvSpPr/>
          <p:nvPr/>
        </p:nvSpPr>
        <p:spPr>
          <a:xfrm>
            <a:off x="548640" y="2011680"/>
            <a:ext cx="11155680" cy="822960"/>
          </a:xfrm>
          <a:prstGeom prst="rect">
            <a:avLst/>
          </a:prstGeom>
          <a:noFill/>
          <a:ln/>
        </p:spPr>
        <p:txBody>
          <a:bodyPr wrap="square" rtlCol="0" anchor="ctr"/>
          <a:lstStyle/>
          <a:p>
            <a:pPr indent="0" marL="0">
              <a:buNone/>
            </a:pPr>
            <a:r>
              <a:rPr lang="en-US" sz="4000" b="1" dirty="0">
                <a:solidFill>
                  <a:srgbClr val="16243D"/>
                </a:solidFill>
                <a:latin typeface="Arial" pitchFamily="34" charset="0"/>
                <a:ea typeface="Arial" pitchFamily="34" charset="-122"/>
                <a:cs typeface="Arial" pitchFamily="34" charset="-120"/>
              </a:rPr>
              <a:t>Resources — the four factors of production</a:t>
            </a:r>
            <a:endParaRPr lang="en-US" sz="4000" dirty="0"/>
          </a:p>
        </p:txBody>
      </p:sp>
      <p:sp>
        <p:nvSpPr>
          <p:cNvPr id="5" name="Text 3"/>
          <p:cNvSpPr/>
          <p:nvPr/>
        </p:nvSpPr>
        <p:spPr>
          <a:xfrm>
            <a:off x="548640" y="2926080"/>
            <a:ext cx="10058400" cy="457200"/>
          </a:xfrm>
          <a:prstGeom prst="rect">
            <a:avLst/>
          </a:prstGeom>
          <a:noFill/>
          <a:ln/>
        </p:spPr>
        <p:txBody>
          <a:bodyPr wrap="square" rtlCol="0" anchor="ctr"/>
          <a:lstStyle/>
          <a:p>
            <a:pPr indent="0" marL="0">
              <a:buNone/>
            </a:pPr>
            <a:r>
              <a:rPr lang="en-US" sz="1800" dirty="0">
                <a:solidFill>
                  <a:srgbClr val="5C6270"/>
                </a:solidFill>
                <a:latin typeface="Arial" pitchFamily="34" charset="0"/>
                <a:ea typeface="Arial" pitchFamily="34" charset="-122"/>
                <a:cs typeface="Arial" pitchFamily="34" charset="-120"/>
              </a:rPr>
              <a:t>What exactly is limited? Economists sort every resource into four boxes.</a:t>
            </a:r>
            <a:endParaRPr lang="en-US" sz="1800" dirty="0"/>
          </a:p>
        </p:txBody>
      </p:sp>
      <p:sp>
        <p:nvSpPr>
          <p:cNvPr id="6" name="Text 4"/>
          <p:cNvSpPr/>
          <p:nvPr/>
        </p:nvSpPr>
        <p:spPr>
          <a:xfrm>
            <a:off x="548640" y="6382512"/>
            <a:ext cx="8229600" cy="320040"/>
          </a:xfrm>
          <a:prstGeom prst="rect">
            <a:avLst/>
          </a:prstGeom>
          <a:noFill/>
          <a:ln/>
        </p:spPr>
        <p:txBody>
          <a:bodyPr wrap="square" lIns="0" tIns="0" rIns="0" bIns="0" rtlCol="0" anchor="ctr"/>
          <a:lstStyle/>
          <a:p>
            <a:pPr indent="0" marL="0">
              <a:buNone/>
            </a:pPr>
            <a:r>
              <a:rPr lang="en-US" sz="1000" b="1" dirty="0">
                <a:solidFill>
                  <a:srgbClr val="16243D"/>
                </a:solidFill>
                <a:latin typeface="Arial" pitchFamily="34" charset="0"/>
                <a:ea typeface="Arial" pitchFamily="34" charset="-122"/>
                <a:cs typeface="Arial" pitchFamily="34" charset="-120"/>
              </a:rPr>
              <a:t>EconKits</a:t>
            </a:r>
            <a:pPr indent="0" marL="0">
              <a:buNone/>
            </a:pPr>
            <a:r>
              <a:rPr lang="en-US" sz="1000" dirty="0">
                <a:solidFill>
                  <a:srgbClr val="5C6270"/>
                </a:solidFill>
                <a:latin typeface="Arial" pitchFamily="34" charset="0"/>
                <a:ea typeface="Arial" pitchFamily="34" charset="-122"/>
                <a:cs typeface="Arial" pitchFamily="34" charset="-120"/>
              </a:rPr>
              <a:t>  ·  Kit 01 · Lesson 1 — The Economic Problem</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94360"/>
          </a:xfrm>
          <a:prstGeom prst="rect">
            <a:avLst/>
          </a:prstGeom>
          <a:noFill/>
          <a:ln/>
        </p:spPr>
        <p:txBody>
          <a:bodyPr wrap="square" rtlCol="0" anchor="ctr"/>
          <a:lstStyle/>
          <a:p>
            <a:pPr indent="0" marL="0">
              <a:buNone/>
            </a:pPr>
            <a:r>
              <a:rPr lang="en-US" sz="3400" b="1" dirty="0">
                <a:solidFill>
                  <a:srgbClr val="16243D"/>
                </a:solidFill>
                <a:latin typeface="Arial" pitchFamily="34" charset="0"/>
                <a:ea typeface="Arial" pitchFamily="34" charset="-122"/>
                <a:cs typeface="Arial" pitchFamily="34" charset="-120"/>
              </a:rPr>
              <a:t>The four factors of production</a:t>
            </a:r>
            <a:endParaRPr lang="en-US" sz="3400" dirty="0"/>
          </a:p>
        </p:txBody>
      </p:sp>
      <p:sp>
        <p:nvSpPr>
          <p:cNvPr id="3" name="Shape 1"/>
          <p:cNvSpPr/>
          <p:nvPr/>
        </p:nvSpPr>
        <p:spPr>
          <a:xfrm>
            <a:off x="548640" y="1234440"/>
            <a:ext cx="5394960" cy="2194560"/>
          </a:xfrm>
          <a:prstGeom prst="roundRect">
            <a:avLst>
              <a:gd name="adj" fmla="val 3333"/>
            </a:avLst>
          </a:prstGeom>
          <a:solidFill>
            <a:srgbClr val="EDF2F9"/>
          </a:solidFill>
          <a:ln/>
        </p:spPr>
      </p:sp>
      <p:sp>
        <p:nvSpPr>
          <p:cNvPr id="4" name="Text 2"/>
          <p:cNvSpPr/>
          <p:nvPr/>
        </p:nvSpPr>
        <p:spPr>
          <a:xfrm>
            <a:off x="868680" y="1417320"/>
            <a:ext cx="3108960" cy="411480"/>
          </a:xfrm>
          <a:prstGeom prst="rect">
            <a:avLst/>
          </a:prstGeom>
          <a:noFill/>
          <a:ln/>
        </p:spPr>
        <p:txBody>
          <a:bodyPr wrap="square" lIns="0" tIns="0" rIns="0" bIns="0" rtlCol="0" anchor="ctr"/>
          <a:lstStyle/>
          <a:p>
            <a:pPr indent="0" marL="0">
              <a:buNone/>
            </a:pPr>
            <a:r>
              <a:rPr lang="en-US" sz="1700" b="1" dirty="0">
                <a:solidFill>
                  <a:srgbClr val="1F5FA8"/>
                </a:solidFill>
                <a:latin typeface="Arial" pitchFamily="34" charset="0"/>
                <a:ea typeface="Arial" pitchFamily="34" charset="-122"/>
                <a:cs typeface="Arial" pitchFamily="34" charset="-120"/>
              </a:rPr>
              <a:t>LAND</a:t>
            </a:r>
            <a:endParaRPr lang="en-US" sz="1700" dirty="0"/>
          </a:p>
        </p:txBody>
      </p:sp>
      <p:sp>
        <p:nvSpPr>
          <p:cNvPr id="5" name="Text 3"/>
          <p:cNvSpPr/>
          <p:nvPr/>
        </p:nvSpPr>
        <p:spPr>
          <a:xfrm>
            <a:off x="3977640" y="1435608"/>
            <a:ext cx="1691640" cy="347472"/>
          </a:xfrm>
          <a:prstGeom prst="roundRect">
            <a:avLst>
              <a:gd name="adj" fmla="val 50000"/>
            </a:avLst>
          </a:prstGeom>
          <a:solidFill>
            <a:srgbClr val="1F5FA8"/>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Earns RENT</a:t>
            </a:r>
            <a:endParaRPr lang="en-US" sz="1200" dirty="0"/>
          </a:p>
        </p:txBody>
      </p:sp>
      <p:sp>
        <p:nvSpPr>
          <p:cNvPr id="6" name="Text 4"/>
          <p:cNvSpPr/>
          <p:nvPr/>
        </p:nvSpPr>
        <p:spPr>
          <a:xfrm>
            <a:off x="868680" y="1874520"/>
            <a:ext cx="4754880" cy="411480"/>
          </a:xfrm>
          <a:prstGeom prst="rect">
            <a:avLst/>
          </a:prstGeom>
          <a:noFill/>
          <a:ln/>
        </p:spPr>
        <p:txBody>
          <a:bodyPr wrap="square" lIns="0" tIns="0" rIns="0" bIns="0" rtlCol="0" anchor="ctr"/>
          <a:lstStyle/>
          <a:p>
            <a:pPr indent="0" marL="0">
              <a:buNone/>
            </a:pPr>
            <a:r>
              <a:rPr lang="en-US" sz="1450" b="1" dirty="0">
                <a:solidFill>
                  <a:srgbClr val="16243D"/>
                </a:solidFill>
                <a:latin typeface="Arial" pitchFamily="34" charset="0"/>
                <a:ea typeface="Arial" pitchFamily="34" charset="-122"/>
                <a:cs typeface="Arial" pitchFamily="34" charset="-120"/>
              </a:rPr>
              <a:t>All natural resources</a:t>
            </a:r>
            <a:endParaRPr lang="en-US" sz="1450" dirty="0"/>
          </a:p>
        </p:txBody>
      </p:sp>
      <p:sp>
        <p:nvSpPr>
          <p:cNvPr id="7" name="Text 5"/>
          <p:cNvSpPr/>
          <p:nvPr/>
        </p:nvSpPr>
        <p:spPr>
          <a:xfrm>
            <a:off x="868680" y="2331720"/>
            <a:ext cx="4754880" cy="914400"/>
          </a:xfrm>
          <a:prstGeom prst="rect">
            <a:avLst/>
          </a:prstGeom>
          <a:noFill/>
          <a:ln/>
        </p:spPr>
        <p:txBody>
          <a:bodyPr wrap="square" lIns="0" tIns="0" rIns="0" bIns="0" rtlCol="0" anchor="ctr"/>
          <a:lstStyle/>
          <a:p>
            <a:pPr indent="0" marL="0">
              <a:buNone/>
            </a:pPr>
            <a:r>
              <a:rPr lang="en-US" sz="1300" dirty="0">
                <a:solidFill>
                  <a:srgbClr val="5C6270"/>
                </a:solidFill>
                <a:latin typeface="Arial" pitchFamily="34" charset="0"/>
                <a:ea typeface="Arial" pitchFamily="34" charset="-122"/>
                <a:cs typeface="Arial" pitchFamily="34" charset="-120"/>
              </a:rPr>
              <a:t>Iron ore in the Pilbara · farmland · sunshine on a solar farm · fish stocks</a:t>
            </a:r>
            <a:endParaRPr lang="en-US" sz="1300" dirty="0"/>
          </a:p>
        </p:txBody>
      </p:sp>
      <p:sp>
        <p:nvSpPr>
          <p:cNvPr id="8" name="Shape 6"/>
          <p:cNvSpPr/>
          <p:nvPr/>
        </p:nvSpPr>
        <p:spPr>
          <a:xfrm>
            <a:off x="6263640" y="1234440"/>
            <a:ext cx="5394960" cy="2194560"/>
          </a:xfrm>
          <a:prstGeom prst="roundRect">
            <a:avLst>
              <a:gd name="adj" fmla="val 3333"/>
            </a:avLst>
          </a:prstGeom>
          <a:solidFill>
            <a:srgbClr val="EDF2F9"/>
          </a:solidFill>
          <a:ln/>
        </p:spPr>
      </p:sp>
      <p:sp>
        <p:nvSpPr>
          <p:cNvPr id="9" name="Text 7"/>
          <p:cNvSpPr/>
          <p:nvPr/>
        </p:nvSpPr>
        <p:spPr>
          <a:xfrm>
            <a:off x="6583680" y="1417320"/>
            <a:ext cx="3108960" cy="411480"/>
          </a:xfrm>
          <a:prstGeom prst="rect">
            <a:avLst/>
          </a:prstGeom>
          <a:noFill/>
          <a:ln/>
        </p:spPr>
        <p:txBody>
          <a:bodyPr wrap="square" lIns="0" tIns="0" rIns="0" bIns="0" rtlCol="0" anchor="ctr"/>
          <a:lstStyle/>
          <a:p>
            <a:pPr indent="0" marL="0">
              <a:buNone/>
            </a:pPr>
            <a:r>
              <a:rPr lang="en-US" sz="1700" b="1" dirty="0">
                <a:solidFill>
                  <a:srgbClr val="C33D2E"/>
                </a:solidFill>
                <a:latin typeface="Arial" pitchFamily="34" charset="0"/>
                <a:ea typeface="Arial" pitchFamily="34" charset="-122"/>
                <a:cs typeface="Arial" pitchFamily="34" charset="-120"/>
              </a:rPr>
              <a:t>LABOUR</a:t>
            </a:r>
            <a:endParaRPr lang="en-US" sz="1700" dirty="0"/>
          </a:p>
        </p:txBody>
      </p:sp>
      <p:sp>
        <p:nvSpPr>
          <p:cNvPr id="10" name="Text 8"/>
          <p:cNvSpPr/>
          <p:nvPr/>
        </p:nvSpPr>
        <p:spPr>
          <a:xfrm>
            <a:off x="9692640" y="1435608"/>
            <a:ext cx="1691640" cy="347472"/>
          </a:xfrm>
          <a:prstGeom prst="roundRect">
            <a:avLst>
              <a:gd name="adj" fmla="val 50000"/>
            </a:avLst>
          </a:prstGeom>
          <a:solidFill>
            <a:srgbClr val="C33D2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Earns WAGES</a:t>
            </a:r>
            <a:endParaRPr lang="en-US" sz="1200" dirty="0"/>
          </a:p>
        </p:txBody>
      </p:sp>
      <p:sp>
        <p:nvSpPr>
          <p:cNvPr id="11" name="Text 9"/>
          <p:cNvSpPr/>
          <p:nvPr/>
        </p:nvSpPr>
        <p:spPr>
          <a:xfrm>
            <a:off x="6583680" y="1874520"/>
            <a:ext cx="4754880" cy="411480"/>
          </a:xfrm>
          <a:prstGeom prst="rect">
            <a:avLst/>
          </a:prstGeom>
          <a:noFill/>
          <a:ln/>
        </p:spPr>
        <p:txBody>
          <a:bodyPr wrap="square" lIns="0" tIns="0" rIns="0" bIns="0" rtlCol="0" anchor="ctr"/>
          <a:lstStyle/>
          <a:p>
            <a:pPr indent="0" marL="0">
              <a:buNone/>
            </a:pPr>
            <a:r>
              <a:rPr lang="en-US" sz="1450" b="1" dirty="0">
                <a:solidFill>
                  <a:srgbClr val="16243D"/>
                </a:solidFill>
                <a:latin typeface="Arial" pitchFamily="34" charset="0"/>
                <a:ea typeface="Arial" pitchFamily="34" charset="-122"/>
                <a:cs typeface="Arial" pitchFamily="34" charset="-120"/>
              </a:rPr>
              <a:t>Human effort, physical and mental</a:t>
            </a:r>
            <a:endParaRPr lang="en-US" sz="1450" dirty="0"/>
          </a:p>
        </p:txBody>
      </p:sp>
      <p:sp>
        <p:nvSpPr>
          <p:cNvPr id="12" name="Text 10"/>
          <p:cNvSpPr/>
          <p:nvPr/>
        </p:nvSpPr>
        <p:spPr>
          <a:xfrm>
            <a:off x="6583680" y="2331720"/>
            <a:ext cx="4754880" cy="914400"/>
          </a:xfrm>
          <a:prstGeom prst="rect">
            <a:avLst/>
          </a:prstGeom>
          <a:noFill/>
          <a:ln/>
        </p:spPr>
        <p:txBody>
          <a:bodyPr wrap="square" lIns="0" tIns="0" rIns="0" bIns="0" rtlCol="0" anchor="ctr"/>
          <a:lstStyle/>
          <a:p>
            <a:pPr indent="0" marL="0">
              <a:buNone/>
            </a:pPr>
            <a:r>
              <a:rPr lang="en-US" sz="1300" dirty="0">
                <a:solidFill>
                  <a:srgbClr val="5C6270"/>
                </a:solidFill>
                <a:latin typeface="Arial" pitchFamily="34" charset="0"/>
                <a:ea typeface="Arial" pitchFamily="34" charset="-122"/>
                <a:cs typeface="Arial" pitchFamily="34" charset="-120"/>
              </a:rPr>
              <a:t>A barista's shift · a nurse's care · a coder at Canva</a:t>
            </a:r>
            <a:endParaRPr lang="en-US" sz="1300" dirty="0"/>
          </a:p>
        </p:txBody>
      </p:sp>
      <p:sp>
        <p:nvSpPr>
          <p:cNvPr id="13" name="Shape 11"/>
          <p:cNvSpPr/>
          <p:nvPr/>
        </p:nvSpPr>
        <p:spPr>
          <a:xfrm>
            <a:off x="548640" y="3657600"/>
            <a:ext cx="5394960" cy="2194560"/>
          </a:xfrm>
          <a:prstGeom prst="roundRect">
            <a:avLst>
              <a:gd name="adj" fmla="val 3333"/>
            </a:avLst>
          </a:prstGeom>
          <a:solidFill>
            <a:srgbClr val="EDF2F9"/>
          </a:solidFill>
          <a:ln/>
        </p:spPr>
      </p:sp>
      <p:sp>
        <p:nvSpPr>
          <p:cNvPr id="14" name="Text 12"/>
          <p:cNvSpPr/>
          <p:nvPr/>
        </p:nvSpPr>
        <p:spPr>
          <a:xfrm>
            <a:off x="868680" y="3840480"/>
            <a:ext cx="3108960" cy="411480"/>
          </a:xfrm>
          <a:prstGeom prst="rect">
            <a:avLst/>
          </a:prstGeom>
          <a:noFill/>
          <a:ln/>
        </p:spPr>
        <p:txBody>
          <a:bodyPr wrap="square" lIns="0" tIns="0" rIns="0" bIns="0" rtlCol="0" anchor="ctr"/>
          <a:lstStyle/>
          <a:p>
            <a:pPr indent="0" marL="0">
              <a:buNone/>
            </a:pPr>
            <a:r>
              <a:rPr lang="en-US" sz="1700" b="1" dirty="0">
                <a:solidFill>
                  <a:srgbClr val="16243D"/>
                </a:solidFill>
                <a:latin typeface="Arial" pitchFamily="34" charset="0"/>
                <a:ea typeface="Arial" pitchFamily="34" charset="-122"/>
                <a:cs typeface="Arial" pitchFamily="34" charset="-120"/>
              </a:rPr>
              <a:t>CAPITAL</a:t>
            </a:r>
            <a:endParaRPr lang="en-US" sz="1700" dirty="0"/>
          </a:p>
        </p:txBody>
      </p:sp>
      <p:sp>
        <p:nvSpPr>
          <p:cNvPr id="15" name="Text 13"/>
          <p:cNvSpPr/>
          <p:nvPr/>
        </p:nvSpPr>
        <p:spPr>
          <a:xfrm>
            <a:off x="3977640" y="3858768"/>
            <a:ext cx="1691640" cy="347472"/>
          </a:xfrm>
          <a:prstGeom prst="roundRect">
            <a:avLst>
              <a:gd name="adj" fmla="val 50000"/>
            </a:avLst>
          </a:prstGeom>
          <a:solidFill>
            <a:srgbClr val="16243D"/>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Earns INTEREST</a:t>
            </a:r>
            <a:endParaRPr lang="en-US" sz="1200" dirty="0"/>
          </a:p>
        </p:txBody>
      </p:sp>
      <p:sp>
        <p:nvSpPr>
          <p:cNvPr id="16" name="Text 14"/>
          <p:cNvSpPr/>
          <p:nvPr/>
        </p:nvSpPr>
        <p:spPr>
          <a:xfrm>
            <a:off x="868680" y="4297680"/>
            <a:ext cx="4754880" cy="411480"/>
          </a:xfrm>
          <a:prstGeom prst="rect">
            <a:avLst/>
          </a:prstGeom>
          <a:noFill/>
          <a:ln/>
        </p:spPr>
        <p:txBody>
          <a:bodyPr wrap="square" lIns="0" tIns="0" rIns="0" bIns="0" rtlCol="0" anchor="ctr"/>
          <a:lstStyle/>
          <a:p>
            <a:pPr indent="0" marL="0">
              <a:buNone/>
            </a:pPr>
            <a:r>
              <a:rPr lang="en-US" sz="1450" b="1" dirty="0">
                <a:solidFill>
                  <a:srgbClr val="16243D"/>
                </a:solidFill>
                <a:latin typeface="Arial" pitchFamily="34" charset="0"/>
                <a:ea typeface="Arial" pitchFamily="34" charset="-122"/>
                <a:cs typeface="Arial" pitchFamily="34" charset="-120"/>
              </a:rPr>
              <a:t>Goods used to make other goods</a:t>
            </a:r>
            <a:endParaRPr lang="en-US" sz="1450" dirty="0"/>
          </a:p>
        </p:txBody>
      </p:sp>
      <p:sp>
        <p:nvSpPr>
          <p:cNvPr id="17" name="Text 15"/>
          <p:cNvSpPr/>
          <p:nvPr/>
        </p:nvSpPr>
        <p:spPr>
          <a:xfrm>
            <a:off x="868680" y="4754880"/>
            <a:ext cx="4754880" cy="914400"/>
          </a:xfrm>
          <a:prstGeom prst="rect">
            <a:avLst/>
          </a:prstGeom>
          <a:noFill/>
          <a:ln/>
        </p:spPr>
        <p:txBody>
          <a:bodyPr wrap="square" lIns="0" tIns="0" rIns="0" bIns="0" rtlCol="0" anchor="ctr"/>
          <a:lstStyle/>
          <a:p>
            <a:pPr indent="0" marL="0">
              <a:buNone/>
            </a:pPr>
            <a:r>
              <a:rPr lang="en-US" sz="1300" dirty="0">
                <a:solidFill>
                  <a:srgbClr val="5C6270"/>
                </a:solidFill>
                <a:latin typeface="Arial" pitchFamily="34" charset="0"/>
                <a:ea typeface="Arial" pitchFamily="34" charset="-122"/>
                <a:cs typeface="Arial" pitchFamily="34" charset="-120"/>
              </a:rPr>
              <a:t>Mining trucks · a cafe's espresso machine · the NBN</a:t>
            </a:r>
            <a:endParaRPr lang="en-US" sz="1300" dirty="0"/>
          </a:p>
        </p:txBody>
      </p:sp>
      <p:sp>
        <p:nvSpPr>
          <p:cNvPr id="18" name="Shape 16"/>
          <p:cNvSpPr/>
          <p:nvPr/>
        </p:nvSpPr>
        <p:spPr>
          <a:xfrm>
            <a:off x="6263640" y="3657600"/>
            <a:ext cx="5394960" cy="2194560"/>
          </a:xfrm>
          <a:prstGeom prst="roundRect">
            <a:avLst>
              <a:gd name="adj" fmla="val 3333"/>
            </a:avLst>
          </a:prstGeom>
          <a:solidFill>
            <a:srgbClr val="EDF2F9"/>
          </a:solidFill>
          <a:ln/>
        </p:spPr>
      </p:sp>
      <p:sp>
        <p:nvSpPr>
          <p:cNvPr id="19" name="Text 17"/>
          <p:cNvSpPr/>
          <p:nvPr/>
        </p:nvSpPr>
        <p:spPr>
          <a:xfrm>
            <a:off x="6583680" y="3840480"/>
            <a:ext cx="3108960" cy="411480"/>
          </a:xfrm>
          <a:prstGeom prst="rect">
            <a:avLst/>
          </a:prstGeom>
          <a:noFill/>
          <a:ln/>
        </p:spPr>
        <p:txBody>
          <a:bodyPr wrap="square" lIns="0" tIns="0" rIns="0" bIns="0" rtlCol="0" anchor="ctr"/>
          <a:lstStyle/>
          <a:p>
            <a:pPr indent="0" marL="0">
              <a:buNone/>
            </a:pPr>
            <a:r>
              <a:rPr lang="en-US" sz="1700" b="1" dirty="0">
                <a:solidFill>
                  <a:srgbClr val="7A5C2E"/>
                </a:solidFill>
                <a:latin typeface="Arial" pitchFamily="34" charset="0"/>
                <a:ea typeface="Arial" pitchFamily="34" charset="-122"/>
                <a:cs typeface="Arial" pitchFamily="34" charset="-120"/>
              </a:rPr>
              <a:t>ENTERPRISE</a:t>
            </a:r>
            <a:endParaRPr lang="en-US" sz="1700" dirty="0"/>
          </a:p>
        </p:txBody>
      </p:sp>
      <p:sp>
        <p:nvSpPr>
          <p:cNvPr id="20" name="Text 18"/>
          <p:cNvSpPr/>
          <p:nvPr/>
        </p:nvSpPr>
        <p:spPr>
          <a:xfrm>
            <a:off x="9692640" y="3858768"/>
            <a:ext cx="1691640" cy="347472"/>
          </a:xfrm>
          <a:prstGeom prst="roundRect">
            <a:avLst>
              <a:gd name="adj" fmla="val 50000"/>
            </a:avLst>
          </a:prstGeom>
          <a:solidFill>
            <a:srgbClr val="7A5C2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Earns PROFIT</a:t>
            </a:r>
            <a:endParaRPr lang="en-US" sz="1200" dirty="0"/>
          </a:p>
        </p:txBody>
      </p:sp>
      <p:sp>
        <p:nvSpPr>
          <p:cNvPr id="21" name="Text 19"/>
          <p:cNvSpPr/>
          <p:nvPr/>
        </p:nvSpPr>
        <p:spPr>
          <a:xfrm>
            <a:off x="6583680" y="4297680"/>
            <a:ext cx="4754880" cy="411480"/>
          </a:xfrm>
          <a:prstGeom prst="rect">
            <a:avLst/>
          </a:prstGeom>
          <a:noFill/>
          <a:ln/>
        </p:spPr>
        <p:txBody>
          <a:bodyPr wrap="square" lIns="0" tIns="0" rIns="0" bIns="0" rtlCol="0" anchor="ctr"/>
          <a:lstStyle/>
          <a:p>
            <a:pPr indent="0" marL="0">
              <a:buNone/>
            </a:pPr>
            <a:r>
              <a:rPr lang="en-US" sz="1450" b="1" dirty="0">
                <a:solidFill>
                  <a:srgbClr val="16243D"/>
                </a:solidFill>
                <a:latin typeface="Arial" pitchFamily="34" charset="0"/>
                <a:ea typeface="Arial" pitchFamily="34" charset="-122"/>
                <a:cs typeface="Arial" pitchFamily="34" charset="-120"/>
              </a:rPr>
              <a:t>Organising the other three + taking the risk</a:t>
            </a:r>
            <a:endParaRPr lang="en-US" sz="1450" dirty="0"/>
          </a:p>
        </p:txBody>
      </p:sp>
      <p:sp>
        <p:nvSpPr>
          <p:cNvPr id="22" name="Text 20"/>
          <p:cNvSpPr/>
          <p:nvPr/>
        </p:nvSpPr>
        <p:spPr>
          <a:xfrm>
            <a:off x="6583680" y="4754880"/>
            <a:ext cx="4754880" cy="914400"/>
          </a:xfrm>
          <a:prstGeom prst="rect">
            <a:avLst/>
          </a:prstGeom>
          <a:noFill/>
          <a:ln/>
        </p:spPr>
        <p:txBody>
          <a:bodyPr wrap="square" lIns="0" tIns="0" rIns="0" bIns="0" rtlCol="0" anchor="ctr"/>
          <a:lstStyle/>
          <a:p>
            <a:pPr indent="0" marL="0">
              <a:buNone/>
            </a:pPr>
            <a:r>
              <a:rPr lang="en-US" sz="1300" dirty="0">
                <a:solidFill>
                  <a:srgbClr val="5C6270"/>
                </a:solidFill>
                <a:latin typeface="Arial" pitchFamily="34" charset="0"/>
                <a:ea typeface="Arial" pitchFamily="34" charset="-122"/>
                <a:cs typeface="Arial" pitchFamily="34" charset="-120"/>
              </a:rPr>
              <a:t>The founders of Canva or Atlassian · your local cafe owner</a:t>
            </a:r>
            <a:endParaRPr lang="en-US" sz="1300" dirty="0"/>
          </a:p>
        </p:txBody>
      </p:sp>
      <p:sp>
        <p:nvSpPr>
          <p:cNvPr id="23" name="Text 21"/>
          <p:cNvSpPr/>
          <p:nvPr/>
        </p:nvSpPr>
        <p:spPr>
          <a:xfrm>
            <a:off x="548640" y="6382512"/>
            <a:ext cx="8229600" cy="320040"/>
          </a:xfrm>
          <a:prstGeom prst="rect">
            <a:avLst/>
          </a:prstGeom>
          <a:noFill/>
          <a:ln/>
        </p:spPr>
        <p:txBody>
          <a:bodyPr wrap="square" lIns="0" tIns="0" rIns="0" bIns="0" rtlCol="0" anchor="ctr"/>
          <a:lstStyle/>
          <a:p>
            <a:pPr indent="0" marL="0">
              <a:buNone/>
            </a:pPr>
            <a:r>
              <a:rPr lang="en-US" sz="1000" b="1" dirty="0">
                <a:solidFill>
                  <a:srgbClr val="16243D"/>
                </a:solidFill>
                <a:latin typeface="Arial" pitchFamily="34" charset="0"/>
                <a:ea typeface="Arial" pitchFamily="34" charset="-122"/>
                <a:cs typeface="Arial" pitchFamily="34" charset="-120"/>
              </a:rPr>
              <a:t>EconKits</a:t>
            </a:r>
            <a:pPr indent="0" marL="0">
              <a:buNone/>
            </a:pPr>
            <a:r>
              <a:rPr lang="en-US" sz="1000" dirty="0">
                <a:solidFill>
                  <a:srgbClr val="5C6270"/>
                </a:solidFill>
                <a:latin typeface="Arial" pitchFamily="34" charset="0"/>
                <a:ea typeface="Arial" pitchFamily="34" charset="-122"/>
                <a:cs typeface="Arial" pitchFamily="34" charset="-120"/>
              </a:rPr>
              <a:t>  ·  Kit 01 · Lesson 1 — The Economic Problem</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43D"/>
        </a:solidFill>
      </p:bgPr>
    </p:bg>
    <p:spTree>
      <p:nvGrpSpPr>
        <p:cNvPr id="1" name=""/>
        <p:cNvGrpSpPr/>
        <p:nvPr/>
      </p:nvGrpSpPr>
      <p:grpSpPr>
        <a:xfrm>
          <a:off x="0" y="0"/>
          <a:ext cx="0" cy="0"/>
          <a:chOff x="0" y="0"/>
          <a:chExt cx="0" cy="0"/>
        </a:xfrm>
      </p:grpSpPr>
      <p:sp>
        <p:nvSpPr>
          <p:cNvPr id="2" name="Text 0"/>
          <p:cNvSpPr/>
          <p:nvPr/>
        </p:nvSpPr>
        <p:spPr>
          <a:xfrm>
            <a:off x="822960" y="548640"/>
            <a:ext cx="10515600" cy="64008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Quick check — which factor?</a:t>
            </a:r>
            <a:endParaRPr lang="en-US" sz="3400" dirty="0"/>
          </a:p>
        </p:txBody>
      </p:sp>
      <p:sp>
        <p:nvSpPr>
          <p:cNvPr id="3" name="Text 1"/>
          <p:cNvSpPr/>
          <p:nvPr/>
        </p:nvSpPr>
        <p:spPr>
          <a:xfrm>
            <a:off x="822960" y="1554480"/>
            <a:ext cx="10424160" cy="3291840"/>
          </a:xfrm>
          <a:prstGeom prst="rect">
            <a:avLst/>
          </a:prstGeom>
          <a:noFill/>
          <a:ln/>
        </p:spPr>
        <p:txBody>
          <a:bodyPr wrap="square" rtlCol="0" anchor="ctr"/>
          <a:lstStyle/>
          <a:p>
            <a:pPr indent="0" marL="0">
              <a:spcAft>
                <a:spcPts val="1600"/>
              </a:spcAft>
              <a:buNone/>
            </a:pPr>
            <a:r>
              <a:rPr lang="en-US" sz="2100" dirty="0">
                <a:solidFill>
                  <a:srgbClr val="CADCFC"/>
                </a:solidFill>
                <a:latin typeface="Arial" pitchFamily="34" charset="0"/>
                <a:ea typeface="Arial" pitchFamily="34" charset="-122"/>
                <a:cs typeface="Arial" pitchFamily="34" charset="-120"/>
              </a:rPr>
              <a:t>1.  A combine harvester on a Riverina wheat farm</a:t>
            </a:r>
            <a:endParaRPr lang="en-US" sz="2100" dirty="0"/>
          </a:p>
          <a:p>
            <a:pPr indent="0" marL="0">
              <a:spcAft>
                <a:spcPts val="1600"/>
              </a:spcAft>
              <a:buNone/>
            </a:pPr>
            <a:r>
              <a:rPr lang="en-US" sz="2100" dirty="0">
                <a:solidFill>
                  <a:srgbClr val="CADCFC"/>
                </a:solidFill>
                <a:latin typeface="Arial" pitchFamily="34" charset="0"/>
                <a:ea typeface="Arial" pitchFamily="34" charset="-122"/>
                <a:cs typeface="Arial" pitchFamily="34" charset="-120"/>
              </a:rPr>
              <a:t>2.  The wheat farmer's daughter driving it on weekends</a:t>
            </a:r>
            <a:endParaRPr lang="en-US" sz="2100" dirty="0"/>
          </a:p>
          <a:p>
            <a:pPr indent="0" marL="0">
              <a:spcAft>
                <a:spcPts val="1600"/>
              </a:spcAft>
              <a:buNone/>
            </a:pPr>
            <a:r>
              <a:rPr lang="en-US" sz="2100" dirty="0">
                <a:solidFill>
                  <a:srgbClr val="CADCFC"/>
                </a:solidFill>
                <a:latin typeface="Arial" pitchFamily="34" charset="0"/>
                <a:ea typeface="Arial" pitchFamily="34" charset="-122"/>
                <a:cs typeface="Arial" pitchFamily="34" charset="-120"/>
              </a:rPr>
              <a:t>3.  The paddock itself</a:t>
            </a:r>
            <a:endParaRPr lang="en-US" sz="2100" dirty="0"/>
          </a:p>
          <a:p>
            <a:pPr indent="0" marL="0">
              <a:spcAft>
                <a:spcPts val="1600"/>
              </a:spcAft>
              <a:buNone/>
            </a:pPr>
            <a:r>
              <a:rPr lang="en-US" sz="2100" dirty="0">
                <a:solidFill>
                  <a:srgbClr val="CADCFC"/>
                </a:solidFill>
                <a:latin typeface="Arial" pitchFamily="34" charset="0"/>
                <a:ea typeface="Arial" pitchFamily="34" charset="-122"/>
                <a:cs typeface="Arial" pitchFamily="34" charset="-120"/>
              </a:rPr>
              <a:t>4.  The farmer's decision to plant canola instead this year</a:t>
            </a:r>
            <a:endParaRPr lang="en-US" sz="2100" dirty="0"/>
          </a:p>
          <a:p>
            <a:pPr indent="0" marL="0">
              <a:spcAft>
                <a:spcPts val="1600"/>
              </a:spcAft>
              <a:buNone/>
            </a:pPr>
            <a:r>
              <a:rPr lang="en-US" sz="2100" dirty="0">
                <a:solidFill>
                  <a:srgbClr val="CADCFC"/>
                </a:solidFill>
                <a:latin typeface="Arial" pitchFamily="34" charset="0"/>
                <a:ea typeface="Arial" pitchFamily="34" charset="-122"/>
                <a:cs typeface="Arial" pitchFamily="34" charset="-120"/>
              </a:rPr>
              <a:t>5.  A $40,000 bank loan  —  careful with this one</a:t>
            </a:r>
            <a:endParaRPr lang="en-US" sz="2100" dirty="0"/>
          </a:p>
        </p:txBody>
      </p:sp>
      <p:sp>
        <p:nvSpPr>
          <p:cNvPr id="4" name="Text 2"/>
          <p:cNvSpPr/>
          <p:nvPr/>
        </p:nvSpPr>
        <p:spPr>
          <a:xfrm>
            <a:off x="822960" y="5212080"/>
            <a:ext cx="10515600" cy="822960"/>
          </a:xfrm>
          <a:prstGeom prst="rect">
            <a:avLst/>
          </a:prstGeom>
          <a:noFill/>
          <a:ln/>
        </p:spPr>
        <p:txBody>
          <a:bodyPr wrap="square" rtlCol="0" anchor="ctr"/>
          <a:lstStyle/>
          <a:p>
            <a:pPr indent="0" marL="0">
              <a:buNone/>
            </a:pPr>
            <a:r>
              <a:rPr lang="en-US" sz="1400" i="1" dirty="0">
                <a:solidFill>
                  <a:srgbClr val="9FB6D9"/>
                </a:solidFill>
                <a:latin typeface="Arial" pitchFamily="34" charset="0"/>
                <a:ea typeface="Arial" pitchFamily="34" charset="-122"/>
                <a:cs typeface="Arial" pitchFamily="34" charset="-120"/>
              </a:rPr>
              <a:t>Answers: capital · labour · land · enterprise · none — money is not a factor of production (it buys them)</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22960"/>
            <a:ext cx="914400" cy="914400"/>
          </a:xfrm>
          <a:prstGeom prst="ellipse">
            <a:avLst/>
          </a:prstGeom>
          <a:solidFill>
            <a:srgbClr val="C33D2E"/>
          </a:solidFill>
          <a:ln/>
        </p:spPr>
      </p:sp>
      <p:sp>
        <p:nvSpPr>
          <p:cNvPr id="3" name="Text 1"/>
          <p:cNvSpPr/>
          <p:nvPr/>
        </p:nvSpPr>
        <p:spPr>
          <a:xfrm>
            <a:off x="548640" y="82296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C</a:t>
            </a:r>
            <a:endParaRPr lang="en-US" sz="3200" dirty="0"/>
          </a:p>
        </p:txBody>
      </p:sp>
      <p:sp>
        <p:nvSpPr>
          <p:cNvPr id="4" name="Text 2"/>
          <p:cNvSpPr/>
          <p:nvPr/>
        </p:nvSpPr>
        <p:spPr>
          <a:xfrm>
            <a:off x="548640" y="2011680"/>
            <a:ext cx="10972800" cy="822960"/>
          </a:xfrm>
          <a:prstGeom prst="rect">
            <a:avLst/>
          </a:prstGeom>
          <a:noFill/>
          <a:ln/>
        </p:spPr>
        <p:txBody>
          <a:bodyPr wrap="square" rtlCol="0" anchor="ctr"/>
          <a:lstStyle/>
          <a:p>
            <a:pPr indent="0" marL="0">
              <a:buNone/>
            </a:pPr>
            <a:r>
              <a:rPr lang="en-US" sz="4000" b="1" dirty="0">
                <a:solidFill>
                  <a:srgbClr val="16243D"/>
                </a:solidFill>
                <a:latin typeface="Arial" pitchFamily="34" charset="0"/>
                <a:ea typeface="Arial" pitchFamily="34" charset="-122"/>
                <a:cs typeface="Arial" pitchFamily="34" charset="-120"/>
              </a:rPr>
              <a:t>Opportunity cost</a:t>
            </a:r>
            <a:endParaRPr lang="en-US" sz="4000" dirty="0"/>
          </a:p>
        </p:txBody>
      </p:sp>
      <p:sp>
        <p:nvSpPr>
          <p:cNvPr id="5" name="Text 3"/>
          <p:cNvSpPr/>
          <p:nvPr/>
        </p:nvSpPr>
        <p:spPr>
          <a:xfrm>
            <a:off x="548640" y="2926080"/>
            <a:ext cx="10241280" cy="457200"/>
          </a:xfrm>
          <a:prstGeom prst="rect">
            <a:avLst/>
          </a:prstGeom>
          <a:noFill/>
          <a:ln/>
        </p:spPr>
        <p:txBody>
          <a:bodyPr wrap="square" rtlCol="0" anchor="ctr"/>
          <a:lstStyle/>
          <a:p>
            <a:pPr indent="0" marL="0">
              <a:buNone/>
            </a:pPr>
            <a:r>
              <a:rPr lang="en-US" sz="1800" dirty="0">
                <a:solidFill>
                  <a:srgbClr val="5C6270"/>
                </a:solidFill>
                <a:latin typeface="Arial" pitchFamily="34" charset="0"/>
                <a:ea typeface="Arial" pitchFamily="34" charset="-122"/>
                <a:cs typeface="Arial" pitchFamily="34" charset="-120"/>
              </a:rPr>
              <a:t>Scarcity forces choices. Every choice has a price — and it isn't measured in dollars.</a:t>
            </a:r>
            <a:endParaRPr lang="en-US" sz="1800" dirty="0"/>
          </a:p>
        </p:txBody>
      </p:sp>
      <p:sp>
        <p:nvSpPr>
          <p:cNvPr id="6" name="Text 4"/>
          <p:cNvSpPr/>
          <p:nvPr/>
        </p:nvSpPr>
        <p:spPr>
          <a:xfrm>
            <a:off x="548640" y="6382512"/>
            <a:ext cx="8229600" cy="320040"/>
          </a:xfrm>
          <a:prstGeom prst="rect">
            <a:avLst/>
          </a:prstGeom>
          <a:noFill/>
          <a:ln/>
        </p:spPr>
        <p:txBody>
          <a:bodyPr wrap="square" lIns="0" tIns="0" rIns="0" bIns="0" rtlCol="0" anchor="ctr"/>
          <a:lstStyle/>
          <a:p>
            <a:pPr indent="0" marL="0">
              <a:buNone/>
            </a:pPr>
            <a:r>
              <a:rPr lang="en-US" sz="1000" b="1" dirty="0">
                <a:solidFill>
                  <a:srgbClr val="16243D"/>
                </a:solidFill>
                <a:latin typeface="Arial" pitchFamily="34" charset="0"/>
                <a:ea typeface="Arial" pitchFamily="34" charset="-122"/>
                <a:cs typeface="Arial" pitchFamily="34" charset="-120"/>
              </a:rPr>
              <a:t>EconKits</a:t>
            </a:r>
            <a:pPr indent="0" marL="0">
              <a:buNone/>
            </a:pPr>
            <a:r>
              <a:rPr lang="en-US" sz="1000" dirty="0">
                <a:solidFill>
                  <a:srgbClr val="5C6270"/>
                </a:solidFill>
                <a:latin typeface="Arial" pitchFamily="34" charset="0"/>
                <a:ea typeface="Arial" pitchFamily="34" charset="-122"/>
                <a:cs typeface="Arial" pitchFamily="34" charset="-120"/>
              </a:rPr>
              <a:t>  ·  Kit 01 · Lesson 1 — The Economic Problem</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600" b="1" dirty="0">
                <a:solidFill>
                  <a:srgbClr val="16243D"/>
                </a:solidFill>
                <a:latin typeface="Arial" pitchFamily="34" charset="0"/>
                <a:ea typeface="Arial" pitchFamily="34" charset="-122"/>
                <a:cs typeface="Arial" pitchFamily="34" charset="-120"/>
              </a:rPr>
              <a:t>The real cost of any choice</a:t>
            </a:r>
            <a:endParaRPr lang="en-US" sz="3600" dirty="0"/>
          </a:p>
        </p:txBody>
      </p:sp>
      <p:sp>
        <p:nvSpPr>
          <p:cNvPr id="3" name="Shape 1"/>
          <p:cNvSpPr/>
          <p:nvPr/>
        </p:nvSpPr>
        <p:spPr>
          <a:xfrm>
            <a:off x="548640" y="1371600"/>
            <a:ext cx="11064240" cy="1737360"/>
          </a:xfrm>
          <a:prstGeom prst="roundRect">
            <a:avLst>
              <a:gd name="adj" fmla="val 4211"/>
            </a:avLst>
          </a:prstGeom>
          <a:solidFill>
            <a:srgbClr val="16243D"/>
          </a:solidFill>
          <a:ln/>
        </p:spPr>
      </p:sp>
      <p:sp>
        <p:nvSpPr>
          <p:cNvPr id="4" name="Text 2"/>
          <p:cNvSpPr/>
          <p:nvPr/>
        </p:nvSpPr>
        <p:spPr>
          <a:xfrm>
            <a:off x="1005840" y="1691640"/>
            <a:ext cx="10149840" cy="10972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Opportunity cost</a:t>
            </a:r>
            <a:pPr indent="0" marL="0">
              <a:buNone/>
            </a:pPr>
            <a:r>
              <a:rPr lang="en-US" sz="2600" dirty="0">
                <a:solidFill>
                  <a:srgbClr val="CADCFC"/>
                </a:solidFill>
                <a:latin typeface="Arial" pitchFamily="34" charset="0"/>
                <a:ea typeface="Arial" pitchFamily="34" charset="-122"/>
                <a:cs typeface="Arial" pitchFamily="34" charset="-120"/>
              </a:rPr>
              <a:t> is the value of the </a:t>
            </a:r>
            <a:pPr indent="0" marL="0">
              <a:buNone/>
            </a:pPr>
            <a:r>
              <a:rPr lang="en-US" sz="2600" b="1" dirty="0">
                <a:solidFill>
                  <a:srgbClr val="F0B9B1"/>
                </a:solidFill>
                <a:latin typeface="Arial" pitchFamily="34" charset="0"/>
                <a:ea typeface="Arial" pitchFamily="34" charset="-122"/>
                <a:cs typeface="Arial" pitchFamily="34" charset="-120"/>
              </a:rPr>
              <a:t>next best alternative forgone</a:t>
            </a:r>
            <a:pPr indent="0" marL="0">
              <a:buNone/>
            </a:pPr>
            <a:r>
              <a:rPr lang="en-US" sz="2600" dirty="0">
                <a:solidFill>
                  <a:srgbClr val="CADCFC"/>
                </a:solidFill>
                <a:latin typeface="Arial" pitchFamily="34" charset="0"/>
                <a:ea typeface="Arial" pitchFamily="34" charset="-122"/>
                <a:cs typeface="Arial" pitchFamily="34" charset="-120"/>
              </a:rPr>
              <a:t> when a choice is made.</a:t>
            </a:r>
            <a:endParaRPr lang="en-US" sz="2600" dirty="0"/>
          </a:p>
        </p:txBody>
      </p:sp>
      <p:sp>
        <p:nvSpPr>
          <p:cNvPr id="5" name="Text 3"/>
          <p:cNvSpPr/>
          <p:nvPr/>
        </p:nvSpPr>
        <p:spPr>
          <a:xfrm>
            <a:off x="731520" y="3474720"/>
            <a:ext cx="10698480" cy="2011680"/>
          </a:xfrm>
          <a:prstGeom prst="rect">
            <a:avLst/>
          </a:prstGeom>
          <a:noFill/>
          <a:ln/>
        </p:spPr>
        <p:txBody>
          <a:bodyPr wrap="square" rtlCol="0" anchor="ctr"/>
          <a:lstStyle/>
          <a:p>
            <a:pPr marL="342900" indent="-342900">
              <a:spcAft>
                <a:spcPts val="1200"/>
              </a:spcAft>
              <a:buSzPct val="100000"/>
              <a:buChar char="•"/>
            </a:pPr>
            <a:r>
              <a:rPr lang="en-US" sz="1700" dirty="0">
                <a:solidFill>
                  <a:srgbClr val="16243D"/>
                </a:solidFill>
                <a:latin typeface="Arial" pitchFamily="34" charset="0"/>
                <a:ea typeface="Arial" pitchFamily="34" charset="-122"/>
                <a:cs typeface="Arial" pitchFamily="34" charset="-120"/>
              </a:rPr>
              <a:t>Not every alternative you gave up — only the single best one.</a:t>
            </a:r>
            <a:endParaRPr lang="en-US" sz="1700" dirty="0"/>
          </a:p>
          <a:p>
            <a:pPr marL="342900" indent="-342900">
              <a:spcAft>
                <a:spcPts val="1200"/>
              </a:spcAft>
              <a:buSzPct val="100000"/>
              <a:buChar char="•"/>
            </a:pPr>
            <a:r>
              <a:rPr lang="en-US" sz="1700" dirty="0">
                <a:solidFill>
                  <a:srgbClr val="16243D"/>
                </a:solidFill>
                <a:latin typeface="Arial" pitchFamily="34" charset="0"/>
                <a:ea typeface="Arial" pitchFamily="34" charset="-122"/>
                <a:cs typeface="Arial" pitchFamily="34" charset="-120"/>
              </a:rPr>
              <a:t>It applies to everything scarce: money, but also time, attention, land, a Saturday.</a:t>
            </a:r>
            <a:endParaRPr lang="en-US" sz="1700" dirty="0"/>
          </a:p>
          <a:p>
            <a:pPr marL="342900" indent="-342900">
              <a:spcAft>
                <a:spcPts val="1200"/>
              </a:spcAft>
              <a:buSzPct val="100000"/>
              <a:buChar char="•"/>
            </a:pPr>
            <a:r>
              <a:rPr lang="en-US" sz="1700" dirty="0">
                <a:solidFill>
                  <a:srgbClr val="16243D"/>
                </a:solidFill>
                <a:latin typeface="Arial" pitchFamily="34" charset="0"/>
                <a:ea typeface="Arial" pitchFamily="34" charset="-122"/>
                <a:cs typeface="Arial" pitchFamily="34" charset="-120"/>
              </a:rPr>
              <a:t>Individuals face it, businesses face it, and so does the federal government every Budget night.</a:t>
            </a:r>
            <a:endParaRPr lang="en-US" sz="1700" dirty="0"/>
          </a:p>
        </p:txBody>
      </p:sp>
      <p:sp>
        <p:nvSpPr>
          <p:cNvPr id="6" name="Text 4"/>
          <p:cNvSpPr/>
          <p:nvPr/>
        </p:nvSpPr>
        <p:spPr>
          <a:xfrm>
            <a:off x="548640" y="6382512"/>
            <a:ext cx="8229600" cy="320040"/>
          </a:xfrm>
          <a:prstGeom prst="rect">
            <a:avLst/>
          </a:prstGeom>
          <a:noFill/>
          <a:ln/>
        </p:spPr>
        <p:txBody>
          <a:bodyPr wrap="square" lIns="0" tIns="0" rIns="0" bIns="0" rtlCol="0" anchor="ctr"/>
          <a:lstStyle/>
          <a:p>
            <a:pPr indent="0" marL="0">
              <a:buNone/>
            </a:pPr>
            <a:r>
              <a:rPr lang="en-US" sz="1000" b="1" dirty="0">
                <a:solidFill>
                  <a:srgbClr val="16243D"/>
                </a:solidFill>
                <a:latin typeface="Arial" pitchFamily="34" charset="0"/>
                <a:ea typeface="Arial" pitchFamily="34" charset="-122"/>
                <a:cs typeface="Arial" pitchFamily="34" charset="-120"/>
              </a:rPr>
              <a:t>EconKits</a:t>
            </a:r>
            <a:pPr indent="0" marL="0">
              <a:buNone/>
            </a:pPr>
            <a:r>
              <a:rPr lang="en-US" sz="1000" dirty="0">
                <a:solidFill>
                  <a:srgbClr val="5C6270"/>
                </a:solidFill>
                <a:latin typeface="Arial" pitchFamily="34" charset="0"/>
                <a:ea typeface="Arial" pitchFamily="34" charset="-122"/>
                <a:cs typeface="Arial" pitchFamily="34" charset="-120"/>
              </a:rPr>
              <a:t>  ·  Kit 01 · Lesson 1 — The Economic Problem</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600" b="1" dirty="0">
                <a:solidFill>
                  <a:srgbClr val="16243D"/>
                </a:solidFill>
                <a:latin typeface="Arial" pitchFamily="34" charset="0"/>
                <a:ea typeface="Arial" pitchFamily="34" charset="-122"/>
                <a:cs typeface="Arial" pitchFamily="34" charset="-120"/>
              </a:rPr>
              <a:t>Worked example — your Saturday</a:t>
            </a:r>
            <a:endParaRPr lang="en-US" sz="3600" dirty="0"/>
          </a:p>
        </p:txBody>
      </p:sp>
      <p:sp>
        <p:nvSpPr>
          <p:cNvPr id="3" name="Text 1"/>
          <p:cNvSpPr/>
          <p:nvPr/>
        </p:nvSpPr>
        <p:spPr>
          <a:xfrm>
            <a:off x="548640" y="1097280"/>
            <a:ext cx="10515600" cy="457200"/>
          </a:xfrm>
          <a:prstGeom prst="rect">
            <a:avLst/>
          </a:prstGeom>
          <a:noFill/>
          <a:ln/>
        </p:spPr>
        <p:txBody>
          <a:bodyPr wrap="square" rtlCol="0" anchor="ctr"/>
          <a:lstStyle/>
          <a:p>
            <a:pPr indent="0" marL="0">
              <a:buNone/>
            </a:pPr>
            <a:r>
              <a:rPr lang="en-US" sz="1600" dirty="0">
                <a:solidFill>
                  <a:srgbClr val="5C6270"/>
                </a:solidFill>
                <a:latin typeface="Arial" pitchFamily="34" charset="0"/>
                <a:ea typeface="Arial" pitchFamily="34" charset="-122"/>
                <a:cs typeface="Arial" pitchFamily="34" charset="-120"/>
              </a:rPr>
              <a:t>It's the Saturday before your Economics exam. You can do exactly one of these:</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657600"/>
                <a:gridCol w="4206240"/>
                <a:gridCol w="3200400"/>
              </a:tblGrid>
              <a:tr h="502920">
                <a:tc>
                  <a:txBody>
                    <a:bodyPr/>
                    <a:lstStyle/>
                    <a:p>
                      <a:pPr indent="0" marL="0">
                        <a:buNone/>
                      </a:pPr>
                      <a:r>
                        <a:rPr lang="en-US" sz="1500" b="1" dirty="0">
                          <a:solidFill>
                            <a:srgbClr val="FFFFFF"/>
                          </a:solidFill>
                          <a:latin typeface="Arial" pitchFamily="34" charset="0"/>
                          <a:ea typeface="Arial" pitchFamily="34" charset="-122"/>
                          <a:cs typeface="Arial" pitchFamily="34" charset="-120"/>
                        </a:rPr>
                        <a:t>Option</a:t>
                      </a:r>
                      <a:endParaRPr lang="en-US" sz="1500" dirty="0">
                        <a:latin typeface="Arial" charset="0"/>
                        <a:ea typeface="Arial" charset="0"/>
                        <a:cs typeface="Arial" charset="0"/>
                      </a:endParaRPr>
                    </a:p>
                  </a:txBody>
                  <a:tcPr marL="91440" marR="91440" marT="45720" marB="45720" anchor="ctr">
                    <a:lnL w="12700" cap="flat" cmpd="sng" algn="ctr">
                      <a:solidFill>
                        <a:srgbClr val="D8D5C8"/>
                      </a:solidFill>
                      <a:prstDash val="solid"/>
                      <a:round/>
                      <a:headEnd type="none" w="med" len="med"/>
                      <a:tailEnd type="none" w="med" len="med"/>
                    </a:lnL>
                    <a:lnR w="12700" cap="flat" cmpd="sng" algn="ctr">
                      <a:solidFill>
                        <a:srgbClr val="D8D5C8"/>
                      </a:solidFill>
                      <a:prstDash val="solid"/>
                      <a:round/>
                      <a:headEnd type="none" w="med" len="med"/>
                      <a:tailEnd type="none" w="med" len="med"/>
                    </a:lnR>
                    <a:lnT w="12700" cap="flat" cmpd="sng" algn="ctr">
                      <a:solidFill>
                        <a:srgbClr val="D8D5C8"/>
                      </a:solidFill>
                      <a:prstDash val="solid"/>
                      <a:round/>
                      <a:headEnd type="none" w="med" len="med"/>
                      <a:tailEnd type="none" w="med" len="med"/>
                    </a:lnT>
                    <a:lnB w="12700" cap="flat" cmpd="sng" algn="ctr">
                      <a:solidFill>
                        <a:srgbClr val="D8D5C8"/>
                      </a:solidFill>
                      <a:prstDash val="solid"/>
                      <a:round/>
                      <a:headEnd type="none" w="med" len="med"/>
                      <a:tailEnd type="none" w="med" len="med"/>
                    </a:lnB>
                    <a:solidFill>
                      <a:srgbClr val="16243D"/>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What you get</a:t>
                      </a:r>
                      <a:endParaRPr lang="en-US" sz="1500" dirty="0">
                        <a:latin typeface="Arial" charset="0"/>
                        <a:ea typeface="Arial" charset="0"/>
                        <a:cs typeface="Arial" charset="0"/>
                      </a:endParaRPr>
                    </a:p>
                  </a:txBody>
                  <a:tcPr marL="91440" marR="91440" marT="45720" marB="45720" anchor="ctr">
                    <a:lnL w="12700" cap="flat" cmpd="sng" algn="ctr">
                      <a:solidFill>
                        <a:srgbClr val="D8D5C8"/>
                      </a:solidFill>
                      <a:prstDash val="solid"/>
                      <a:round/>
                      <a:headEnd type="none" w="med" len="med"/>
                      <a:tailEnd type="none" w="med" len="med"/>
                    </a:lnL>
                    <a:lnR w="12700" cap="flat" cmpd="sng" algn="ctr">
                      <a:solidFill>
                        <a:srgbClr val="D8D5C8"/>
                      </a:solidFill>
                      <a:prstDash val="solid"/>
                      <a:round/>
                      <a:headEnd type="none" w="med" len="med"/>
                      <a:tailEnd type="none" w="med" len="med"/>
                    </a:lnR>
                    <a:lnT w="12700" cap="flat" cmpd="sng" algn="ctr">
                      <a:solidFill>
                        <a:srgbClr val="D8D5C8"/>
                      </a:solidFill>
                      <a:prstDash val="solid"/>
                      <a:round/>
                      <a:headEnd type="none" w="med" len="med"/>
                      <a:tailEnd type="none" w="med" len="med"/>
                    </a:lnT>
                    <a:lnB w="12700" cap="flat" cmpd="sng" algn="ctr">
                      <a:solidFill>
                        <a:srgbClr val="D8D5C8"/>
                      </a:solidFill>
                      <a:prstDash val="solid"/>
                      <a:round/>
                      <a:headEnd type="none" w="med" len="med"/>
                      <a:tailEnd type="none" w="med" len="med"/>
                    </a:lnB>
                    <a:solidFill>
                      <a:srgbClr val="16243D"/>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Your ranking</a:t>
                      </a:r>
                      <a:endParaRPr lang="en-US" sz="1500" dirty="0">
                        <a:latin typeface="Arial" charset="0"/>
                        <a:ea typeface="Arial" charset="0"/>
                        <a:cs typeface="Arial" charset="0"/>
                      </a:endParaRPr>
                    </a:p>
                  </a:txBody>
                  <a:tcPr marL="91440" marR="91440" marT="45720" marB="45720" anchor="ctr">
                    <a:lnL w="12700" cap="flat" cmpd="sng" algn="ctr">
                      <a:solidFill>
                        <a:srgbClr val="D8D5C8"/>
                      </a:solidFill>
                      <a:prstDash val="solid"/>
                      <a:round/>
                      <a:headEnd type="none" w="med" len="med"/>
                      <a:tailEnd type="none" w="med" len="med"/>
                    </a:lnL>
                    <a:lnR w="12700" cap="flat" cmpd="sng" algn="ctr">
                      <a:solidFill>
                        <a:srgbClr val="D8D5C8"/>
                      </a:solidFill>
                      <a:prstDash val="solid"/>
                      <a:round/>
                      <a:headEnd type="none" w="med" len="med"/>
                      <a:tailEnd type="none" w="med" len="med"/>
                    </a:lnR>
                    <a:lnT w="12700" cap="flat" cmpd="sng" algn="ctr">
                      <a:solidFill>
                        <a:srgbClr val="D8D5C8"/>
                      </a:solidFill>
                      <a:prstDash val="solid"/>
                      <a:round/>
                      <a:headEnd type="none" w="med" len="med"/>
                      <a:tailEnd type="none" w="med" len="med"/>
                    </a:lnT>
                    <a:lnB w="12700" cap="flat" cmpd="sng" algn="ctr">
                      <a:solidFill>
                        <a:srgbClr val="D8D5C8"/>
                      </a:solidFill>
                      <a:prstDash val="solid"/>
                      <a:round/>
                      <a:headEnd type="none" w="med" len="med"/>
                      <a:tailEnd type="none" w="med" len="med"/>
                    </a:lnB>
                    <a:solidFill>
                      <a:srgbClr val="16243D"/>
                    </a:solidFill>
                  </a:tcPr>
                </a:tc>
              </a:tr>
              <a:tr h="502920">
                <a:tc>
                  <a:txBody>
                    <a:bodyPr/>
                    <a:lstStyle/>
                    <a:p>
                      <a:pPr indent="0" marL="0">
                        <a:buNone/>
                      </a:pPr>
                      <a:r>
                        <a:rPr lang="en-US" sz="1500" dirty="0">
                          <a:solidFill>
                            <a:srgbClr val="16243D"/>
                          </a:solidFill>
                          <a:latin typeface="Arial" pitchFamily="34" charset="0"/>
                          <a:ea typeface="Arial" pitchFamily="34" charset="-122"/>
                          <a:cs typeface="Arial" pitchFamily="34" charset="-120"/>
                        </a:rPr>
                        <a:t>Work your cafe shift</a:t>
                      </a:r>
                      <a:endParaRPr lang="en-US" sz="1500" dirty="0">
                        <a:latin typeface="Arial" charset="0"/>
                        <a:ea typeface="Arial" charset="0"/>
                        <a:cs typeface="Arial" charset="0"/>
                      </a:endParaRPr>
                    </a:p>
                  </a:txBody>
                  <a:tcPr marL="91440" marR="91440" marT="45720" marB="45720" anchor="ctr">
                    <a:lnL w="12700" cap="flat" cmpd="sng" algn="ctr">
                      <a:solidFill>
                        <a:srgbClr val="D8D5C8"/>
                      </a:solidFill>
                      <a:prstDash val="solid"/>
                      <a:round/>
                      <a:headEnd type="none" w="med" len="med"/>
                      <a:tailEnd type="none" w="med" len="med"/>
                    </a:lnL>
                    <a:lnR w="12700" cap="flat" cmpd="sng" algn="ctr">
                      <a:solidFill>
                        <a:srgbClr val="D8D5C8"/>
                      </a:solidFill>
                      <a:prstDash val="solid"/>
                      <a:round/>
                      <a:headEnd type="none" w="med" len="med"/>
                      <a:tailEnd type="none" w="med" len="med"/>
                    </a:lnR>
                    <a:lnT w="12700" cap="flat" cmpd="sng" algn="ctr">
                      <a:solidFill>
                        <a:srgbClr val="D8D5C8"/>
                      </a:solidFill>
                      <a:prstDash val="solid"/>
                      <a:round/>
                      <a:headEnd type="none" w="med" len="med"/>
                      <a:tailEnd type="none" w="med" len="med"/>
                    </a:lnT>
                    <a:lnB w="12700" cap="flat" cmpd="sng" algn="ctr">
                      <a:solidFill>
                        <a:srgbClr val="D8D5C8"/>
                      </a:solidFill>
                      <a:prstDash val="solid"/>
                      <a:round/>
                      <a:headEnd type="none" w="med" len="med"/>
                      <a:tailEnd type="none" w="med" len="med"/>
                    </a:lnB>
                    <a:solidFill>
                      <a:srgbClr val="FFFFFF"/>
                    </a:solidFill>
                  </a:tcPr>
                </a:tc>
                <a:tc>
                  <a:txBody>
                    <a:bodyPr/>
                    <a:lstStyle/>
                    <a:p>
                      <a:pPr indent="0" marL="0">
                        <a:buNone/>
                      </a:pPr>
                      <a:r>
                        <a:rPr lang="en-US" sz="1500" dirty="0">
                          <a:solidFill>
                            <a:srgbClr val="16243D"/>
                          </a:solidFill>
                          <a:latin typeface="Arial" pitchFamily="34" charset="0"/>
                          <a:ea typeface="Arial" pitchFamily="34" charset="-122"/>
                          <a:cs typeface="Arial" pitchFamily="34" charset="-120"/>
                        </a:rPr>
                        <a:t>$130 in wages</a:t>
                      </a:r>
                      <a:endParaRPr lang="en-US" sz="1500" dirty="0">
                        <a:latin typeface="Arial" charset="0"/>
                        <a:ea typeface="Arial" charset="0"/>
                        <a:cs typeface="Arial" charset="0"/>
                      </a:endParaRPr>
                    </a:p>
                  </a:txBody>
                  <a:tcPr marL="91440" marR="91440" marT="45720" marB="45720" anchor="ctr">
                    <a:lnL w="12700" cap="flat" cmpd="sng" algn="ctr">
                      <a:solidFill>
                        <a:srgbClr val="D8D5C8"/>
                      </a:solidFill>
                      <a:prstDash val="solid"/>
                      <a:round/>
                      <a:headEnd type="none" w="med" len="med"/>
                      <a:tailEnd type="none" w="med" len="med"/>
                    </a:lnL>
                    <a:lnR w="12700" cap="flat" cmpd="sng" algn="ctr">
                      <a:solidFill>
                        <a:srgbClr val="D8D5C8"/>
                      </a:solidFill>
                      <a:prstDash val="solid"/>
                      <a:round/>
                      <a:headEnd type="none" w="med" len="med"/>
                      <a:tailEnd type="none" w="med" len="med"/>
                    </a:lnR>
                    <a:lnT w="12700" cap="flat" cmpd="sng" algn="ctr">
                      <a:solidFill>
                        <a:srgbClr val="D8D5C8"/>
                      </a:solidFill>
                      <a:prstDash val="solid"/>
                      <a:round/>
                      <a:headEnd type="none" w="med" len="med"/>
                      <a:tailEnd type="none" w="med" len="med"/>
                    </a:lnT>
                    <a:lnB w="12700" cap="flat" cmpd="sng" algn="ctr">
                      <a:solidFill>
                        <a:srgbClr val="D8D5C8"/>
                      </a:solidFill>
                      <a:prstDash val="solid"/>
                      <a:round/>
                      <a:headEnd type="none" w="med" len="med"/>
                      <a:tailEnd type="none" w="med" len="med"/>
                    </a:lnB>
                    <a:solidFill>
                      <a:srgbClr val="FFFFFF"/>
                    </a:solidFill>
                  </a:tcPr>
                </a:tc>
                <a:tc>
                  <a:txBody>
                    <a:bodyPr/>
                    <a:lstStyle/>
                    <a:p>
                      <a:pPr indent="0" marL="0">
                        <a:buNone/>
                      </a:pPr>
                      <a:r>
                        <a:rPr lang="en-US" sz="1500" dirty="0">
                          <a:solidFill>
                            <a:srgbClr val="16243D"/>
                          </a:solidFill>
                          <a:latin typeface="Arial" pitchFamily="34" charset="0"/>
                          <a:ea typeface="Arial" pitchFamily="34" charset="-122"/>
                          <a:cs typeface="Arial" pitchFamily="34" charset="-120"/>
                        </a:rPr>
                        <a:t>2nd</a:t>
                      </a:r>
                      <a:endParaRPr lang="en-US" sz="1500" dirty="0">
                        <a:latin typeface="Arial" charset="0"/>
                        <a:ea typeface="Arial" charset="0"/>
                        <a:cs typeface="Arial" charset="0"/>
                      </a:endParaRPr>
                    </a:p>
                  </a:txBody>
                  <a:tcPr marL="91440" marR="91440" marT="45720" marB="45720" anchor="ctr">
                    <a:lnL w="12700" cap="flat" cmpd="sng" algn="ctr">
                      <a:solidFill>
                        <a:srgbClr val="D8D5C8"/>
                      </a:solidFill>
                      <a:prstDash val="solid"/>
                      <a:round/>
                      <a:headEnd type="none" w="med" len="med"/>
                      <a:tailEnd type="none" w="med" len="med"/>
                    </a:lnL>
                    <a:lnR w="12700" cap="flat" cmpd="sng" algn="ctr">
                      <a:solidFill>
                        <a:srgbClr val="D8D5C8"/>
                      </a:solidFill>
                      <a:prstDash val="solid"/>
                      <a:round/>
                      <a:headEnd type="none" w="med" len="med"/>
                      <a:tailEnd type="none" w="med" len="med"/>
                    </a:lnR>
                    <a:lnT w="12700" cap="flat" cmpd="sng" algn="ctr">
                      <a:solidFill>
                        <a:srgbClr val="D8D5C8"/>
                      </a:solidFill>
                      <a:prstDash val="solid"/>
                      <a:round/>
                      <a:headEnd type="none" w="med" len="med"/>
                      <a:tailEnd type="none" w="med" len="med"/>
                    </a:lnT>
                    <a:lnB w="12700" cap="flat" cmpd="sng" algn="ctr">
                      <a:solidFill>
                        <a:srgbClr val="D8D5C8"/>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6243D"/>
                          </a:solidFill>
                          <a:latin typeface="Arial" pitchFamily="34" charset="0"/>
                          <a:ea typeface="Arial" pitchFamily="34" charset="-122"/>
                          <a:cs typeface="Arial" pitchFamily="34" charset="-120"/>
                        </a:rPr>
                        <a:t>Study for the exam</a:t>
                      </a:r>
                      <a:endParaRPr lang="en-US" sz="1500" dirty="0">
                        <a:latin typeface="Arial" charset="0"/>
                        <a:ea typeface="Arial" charset="0"/>
                        <a:cs typeface="Arial" charset="0"/>
                      </a:endParaRPr>
                    </a:p>
                  </a:txBody>
                  <a:tcPr marL="91440" marR="91440" marT="45720" marB="45720" anchor="ctr">
                    <a:lnL w="12700" cap="flat" cmpd="sng" algn="ctr">
                      <a:solidFill>
                        <a:srgbClr val="D8D5C8"/>
                      </a:solidFill>
                      <a:prstDash val="solid"/>
                      <a:round/>
                      <a:headEnd type="none" w="med" len="med"/>
                      <a:tailEnd type="none" w="med" len="med"/>
                    </a:lnL>
                    <a:lnR w="12700" cap="flat" cmpd="sng" algn="ctr">
                      <a:solidFill>
                        <a:srgbClr val="D8D5C8"/>
                      </a:solidFill>
                      <a:prstDash val="solid"/>
                      <a:round/>
                      <a:headEnd type="none" w="med" len="med"/>
                      <a:tailEnd type="none" w="med" len="med"/>
                    </a:lnR>
                    <a:lnT w="12700" cap="flat" cmpd="sng" algn="ctr">
                      <a:solidFill>
                        <a:srgbClr val="D8D5C8"/>
                      </a:solidFill>
                      <a:prstDash val="solid"/>
                      <a:round/>
                      <a:headEnd type="none" w="med" len="med"/>
                      <a:tailEnd type="none" w="med" len="med"/>
                    </a:lnT>
                    <a:lnB w="12700" cap="flat" cmpd="sng" algn="ctr">
                      <a:solidFill>
                        <a:srgbClr val="D8D5C8"/>
                      </a:solidFill>
                      <a:prstDash val="solid"/>
                      <a:round/>
                      <a:headEnd type="none" w="med" len="med"/>
                      <a:tailEnd type="none" w="med" len="med"/>
                    </a:lnB>
                    <a:solidFill>
                      <a:srgbClr val="FFFFFF"/>
                    </a:solidFill>
                  </a:tcPr>
                </a:tc>
                <a:tc>
                  <a:txBody>
                    <a:bodyPr/>
                    <a:lstStyle/>
                    <a:p>
                      <a:pPr indent="0" marL="0">
                        <a:buNone/>
                      </a:pPr>
                      <a:r>
                        <a:rPr lang="en-US" sz="1500" dirty="0">
                          <a:solidFill>
                            <a:srgbClr val="16243D"/>
                          </a:solidFill>
                          <a:latin typeface="Arial" pitchFamily="34" charset="0"/>
                          <a:ea typeface="Arial" pitchFamily="34" charset="-122"/>
                          <a:cs typeface="Arial" pitchFamily="34" charset="-120"/>
                        </a:rPr>
                        <a:t>Better mark, less stress</a:t>
                      </a:r>
                      <a:endParaRPr lang="en-US" sz="1500" dirty="0">
                        <a:latin typeface="Arial" charset="0"/>
                        <a:ea typeface="Arial" charset="0"/>
                        <a:cs typeface="Arial" charset="0"/>
                      </a:endParaRPr>
                    </a:p>
                  </a:txBody>
                  <a:tcPr marL="91440" marR="91440" marT="45720" marB="45720" anchor="ctr">
                    <a:lnL w="12700" cap="flat" cmpd="sng" algn="ctr">
                      <a:solidFill>
                        <a:srgbClr val="D8D5C8"/>
                      </a:solidFill>
                      <a:prstDash val="solid"/>
                      <a:round/>
                      <a:headEnd type="none" w="med" len="med"/>
                      <a:tailEnd type="none" w="med" len="med"/>
                    </a:lnL>
                    <a:lnR w="12700" cap="flat" cmpd="sng" algn="ctr">
                      <a:solidFill>
                        <a:srgbClr val="D8D5C8"/>
                      </a:solidFill>
                      <a:prstDash val="solid"/>
                      <a:round/>
                      <a:headEnd type="none" w="med" len="med"/>
                      <a:tailEnd type="none" w="med" len="med"/>
                    </a:lnR>
                    <a:lnT w="12700" cap="flat" cmpd="sng" algn="ctr">
                      <a:solidFill>
                        <a:srgbClr val="D8D5C8"/>
                      </a:solidFill>
                      <a:prstDash val="solid"/>
                      <a:round/>
                      <a:headEnd type="none" w="med" len="med"/>
                      <a:tailEnd type="none" w="med" len="med"/>
                    </a:lnT>
                    <a:lnB w="12700" cap="flat" cmpd="sng" algn="ctr">
                      <a:solidFill>
                        <a:srgbClr val="D8D5C8"/>
                      </a:solidFill>
                      <a:prstDash val="solid"/>
                      <a:round/>
                      <a:headEnd type="none" w="med" len="med"/>
                      <a:tailEnd type="none" w="med" len="med"/>
                    </a:lnB>
                    <a:solidFill>
                      <a:srgbClr val="FFFFFF"/>
                    </a:solidFill>
                  </a:tcPr>
                </a:tc>
                <a:tc>
                  <a:txBody>
                    <a:bodyPr/>
                    <a:lstStyle/>
                    <a:p>
                      <a:pPr indent="0" marL="0">
                        <a:buNone/>
                      </a:pPr>
                      <a:r>
                        <a:rPr lang="en-US" sz="1500" b="1" dirty="0">
                          <a:solidFill>
                            <a:srgbClr val="16243D"/>
                          </a:solidFill>
                          <a:latin typeface="Arial" pitchFamily="34" charset="0"/>
                          <a:ea typeface="Arial" pitchFamily="34" charset="-122"/>
                          <a:cs typeface="Arial" pitchFamily="34" charset="-120"/>
                        </a:rPr>
                        <a:t>1st  →  you choose this</a:t>
                      </a:r>
                      <a:endParaRPr lang="en-US" sz="1500" dirty="0">
                        <a:latin typeface="Arial" charset="0"/>
                        <a:ea typeface="Arial" charset="0"/>
                        <a:cs typeface="Arial" charset="0"/>
                      </a:endParaRPr>
                    </a:p>
                  </a:txBody>
                  <a:tcPr marL="91440" marR="91440" marT="45720" marB="45720" anchor="ctr">
                    <a:lnL w="12700" cap="flat" cmpd="sng" algn="ctr">
                      <a:solidFill>
                        <a:srgbClr val="D8D5C8"/>
                      </a:solidFill>
                      <a:prstDash val="solid"/>
                      <a:round/>
                      <a:headEnd type="none" w="med" len="med"/>
                      <a:tailEnd type="none" w="med" len="med"/>
                    </a:lnL>
                    <a:lnR w="12700" cap="flat" cmpd="sng" algn="ctr">
                      <a:solidFill>
                        <a:srgbClr val="D8D5C8"/>
                      </a:solidFill>
                      <a:prstDash val="solid"/>
                      <a:round/>
                      <a:headEnd type="none" w="med" len="med"/>
                      <a:tailEnd type="none" w="med" len="med"/>
                    </a:lnR>
                    <a:lnT w="12700" cap="flat" cmpd="sng" algn="ctr">
                      <a:solidFill>
                        <a:srgbClr val="D8D5C8"/>
                      </a:solidFill>
                      <a:prstDash val="solid"/>
                      <a:round/>
                      <a:headEnd type="none" w="med" len="med"/>
                      <a:tailEnd type="none" w="med" len="med"/>
                    </a:lnT>
                    <a:lnB w="12700" cap="flat" cmpd="sng" algn="ctr">
                      <a:solidFill>
                        <a:srgbClr val="D8D5C8"/>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6243D"/>
                          </a:solidFill>
                          <a:latin typeface="Arial" pitchFamily="34" charset="0"/>
                          <a:ea typeface="Arial" pitchFamily="34" charset="-122"/>
                          <a:cs typeface="Arial" pitchFamily="34" charset="-120"/>
                        </a:rPr>
                        <a:t>Beach with friends</a:t>
                      </a:r>
                      <a:endParaRPr lang="en-US" sz="1500" dirty="0">
                        <a:latin typeface="Arial" charset="0"/>
                        <a:ea typeface="Arial" charset="0"/>
                        <a:cs typeface="Arial" charset="0"/>
                      </a:endParaRPr>
                    </a:p>
                  </a:txBody>
                  <a:tcPr marL="91440" marR="91440" marT="45720" marB="45720" anchor="ctr">
                    <a:lnL w="12700" cap="flat" cmpd="sng" algn="ctr">
                      <a:solidFill>
                        <a:srgbClr val="D8D5C8"/>
                      </a:solidFill>
                      <a:prstDash val="solid"/>
                      <a:round/>
                      <a:headEnd type="none" w="med" len="med"/>
                      <a:tailEnd type="none" w="med" len="med"/>
                    </a:lnL>
                    <a:lnR w="12700" cap="flat" cmpd="sng" algn="ctr">
                      <a:solidFill>
                        <a:srgbClr val="D8D5C8"/>
                      </a:solidFill>
                      <a:prstDash val="solid"/>
                      <a:round/>
                      <a:headEnd type="none" w="med" len="med"/>
                      <a:tailEnd type="none" w="med" len="med"/>
                    </a:lnR>
                    <a:lnT w="12700" cap="flat" cmpd="sng" algn="ctr">
                      <a:solidFill>
                        <a:srgbClr val="D8D5C8"/>
                      </a:solidFill>
                      <a:prstDash val="solid"/>
                      <a:round/>
                      <a:headEnd type="none" w="med" len="med"/>
                      <a:tailEnd type="none" w="med" len="med"/>
                    </a:lnT>
                    <a:lnB w="12700" cap="flat" cmpd="sng" algn="ctr">
                      <a:solidFill>
                        <a:srgbClr val="D8D5C8"/>
                      </a:solidFill>
                      <a:prstDash val="solid"/>
                      <a:round/>
                      <a:headEnd type="none" w="med" len="med"/>
                      <a:tailEnd type="none" w="med" len="med"/>
                    </a:lnB>
                    <a:solidFill>
                      <a:srgbClr val="FFFFFF"/>
                    </a:solidFill>
                  </a:tcPr>
                </a:tc>
                <a:tc>
                  <a:txBody>
                    <a:bodyPr/>
                    <a:lstStyle/>
                    <a:p>
                      <a:pPr indent="0" marL="0">
                        <a:buNone/>
                      </a:pPr>
                      <a:r>
                        <a:rPr lang="en-US" sz="1500" dirty="0">
                          <a:solidFill>
                            <a:srgbClr val="16243D"/>
                          </a:solidFill>
                          <a:latin typeface="Arial" pitchFamily="34" charset="0"/>
                          <a:ea typeface="Arial" pitchFamily="34" charset="-122"/>
                          <a:cs typeface="Arial" pitchFamily="34" charset="-120"/>
                        </a:rPr>
                        <a:t>A great day out</a:t>
                      </a:r>
                      <a:endParaRPr lang="en-US" sz="1500" dirty="0">
                        <a:latin typeface="Arial" charset="0"/>
                        <a:ea typeface="Arial" charset="0"/>
                        <a:cs typeface="Arial" charset="0"/>
                      </a:endParaRPr>
                    </a:p>
                  </a:txBody>
                  <a:tcPr marL="91440" marR="91440" marT="45720" marB="45720" anchor="ctr">
                    <a:lnL w="12700" cap="flat" cmpd="sng" algn="ctr">
                      <a:solidFill>
                        <a:srgbClr val="D8D5C8"/>
                      </a:solidFill>
                      <a:prstDash val="solid"/>
                      <a:round/>
                      <a:headEnd type="none" w="med" len="med"/>
                      <a:tailEnd type="none" w="med" len="med"/>
                    </a:lnL>
                    <a:lnR w="12700" cap="flat" cmpd="sng" algn="ctr">
                      <a:solidFill>
                        <a:srgbClr val="D8D5C8"/>
                      </a:solidFill>
                      <a:prstDash val="solid"/>
                      <a:round/>
                      <a:headEnd type="none" w="med" len="med"/>
                      <a:tailEnd type="none" w="med" len="med"/>
                    </a:lnR>
                    <a:lnT w="12700" cap="flat" cmpd="sng" algn="ctr">
                      <a:solidFill>
                        <a:srgbClr val="D8D5C8"/>
                      </a:solidFill>
                      <a:prstDash val="solid"/>
                      <a:round/>
                      <a:headEnd type="none" w="med" len="med"/>
                      <a:tailEnd type="none" w="med" len="med"/>
                    </a:lnT>
                    <a:lnB w="12700" cap="flat" cmpd="sng" algn="ctr">
                      <a:solidFill>
                        <a:srgbClr val="D8D5C8"/>
                      </a:solidFill>
                      <a:prstDash val="solid"/>
                      <a:round/>
                      <a:headEnd type="none" w="med" len="med"/>
                      <a:tailEnd type="none" w="med" len="med"/>
                    </a:lnB>
                    <a:solidFill>
                      <a:srgbClr val="FFFFFF"/>
                    </a:solidFill>
                  </a:tcPr>
                </a:tc>
                <a:tc>
                  <a:txBody>
                    <a:bodyPr/>
                    <a:lstStyle/>
                    <a:p>
                      <a:pPr indent="0" marL="0">
                        <a:buNone/>
                      </a:pPr>
                      <a:r>
                        <a:rPr lang="en-US" sz="1500" dirty="0">
                          <a:solidFill>
                            <a:srgbClr val="16243D"/>
                          </a:solidFill>
                          <a:latin typeface="Arial" pitchFamily="34" charset="0"/>
                          <a:ea typeface="Arial" pitchFamily="34" charset="-122"/>
                          <a:cs typeface="Arial" pitchFamily="34" charset="-120"/>
                        </a:rPr>
                        <a:t>3rd</a:t>
                      </a:r>
                      <a:endParaRPr lang="en-US" sz="1500" dirty="0">
                        <a:latin typeface="Arial" charset="0"/>
                        <a:ea typeface="Arial" charset="0"/>
                        <a:cs typeface="Arial" charset="0"/>
                      </a:endParaRPr>
                    </a:p>
                  </a:txBody>
                  <a:tcPr marL="91440" marR="91440" marT="45720" marB="45720" anchor="ctr">
                    <a:lnL w="12700" cap="flat" cmpd="sng" algn="ctr">
                      <a:solidFill>
                        <a:srgbClr val="D8D5C8"/>
                      </a:solidFill>
                      <a:prstDash val="solid"/>
                      <a:round/>
                      <a:headEnd type="none" w="med" len="med"/>
                      <a:tailEnd type="none" w="med" len="med"/>
                    </a:lnL>
                    <a:lnR w="12700" cap="flat" cmpd="sng" algn="ctr">
                      <a:solidFill>
                        <a:srgbClr val="D8D5C8"/>
                      </a:solidFill>
                      <a:prstDash val="solid"/>
                      <a:round/>
                      <a:headEnd type="none" w="med" len="med"/>
                      <a:tailEnd type="none" w="med" len="med"/>
                    </a:lnR>
                    <a:lnT w="12700" cap="flat" cmpd="sng" algn="ctr">
                      <a:solidFill>
                        <a:srgbClr val="D8D5C8"/>
                      </a:solidFill>
                      <a:prstDash val="solid"/>
                      <a:round/>
                      <a:headEnd type="none" w="med" len="med"/>
                      <a:tailEnd type="none" w="med" len="med"/>
                    </a:lnT>
                    <a:lnB w="12700" cap="flat" cmpd="sng" algn="ctr">
                      <a:solidFill>
                        <a:srgbClr val="D8D5C8"/>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206240"/>
            <a:ext cx="11064240" cy="1554480"/>
          </a:xfrm>
          <a:prstGeom prst="roundRect">
            <a:avLst>
              <a:gd name="adj" fmla="val 4706"/>
            </a:avLst>
          </a:prstGeom>
          <a:solidFill>
            <a:srgbClr val="FBEBE9"/>
          </a:solidFill>
          <a:ln/>
        </p:spPr>
      </p:sp>
      <p:sp>
        <p:nvSpPr>
          <p:cNvPr id="6" name="Text 3"/>
          <p:cNvSpPr/>
          <p:nvPr/>
        </p:nvSpPr>
        <p:spPr>
          <a:xfrm>
            <a:off x="914400" y="4434840"/>
            <a:ext cx="10332720" cy="1143000"/>
          </a:xfrm>
          <a:prstGeom prst="rect">
            <a:avLst/>
          </a:prstGeom>
          <a:noFill/>
          <a:ln/>
        </p:spPr>
        <p:txBody>
          <a:bodyPr wrap="square" lIns="0" tIns="0" rIns="0" bIns="0" rtlCol="0" anchor="ctr"/>
          <a:lstStyle/>
          <a:p>
            <a:pPr indent="0" marL="0">
              <a:spcAft>
                <a:spcPts val="800"/>
              </a:spcAft>
              <a:buNone/>
            </a:pPr>
            <a:r>
              <a:rPr lang="en-US" sz="1700" b="1" dirty="0">
                <a:solidFill>
                  <a:srgbClr val="C33D2E"/>
                </a:solidFill>
                <a:latin typeface="Arial" pitchFamily="34" charset="0"/>
                <a:ea typeface="Arial" pitchFamily="34" charset="-122"/>
                <a:cs typeface="Arial" pitchFamily="34" charset="-120"/>
              </a:rPr>
              <a:t>Opportunity cost of studying = the cafe shift ($130) — the next best alternative.</a:t>
            </a:r>
            <a:endParaRPr lang="en-US" sz="1700" dirty="0"/>
          </a:p>
          <a:p>
            <a:pPr indent="0" marL="0">
              <a:spcAft>
                <a:spcPts val="800"/>
              </a:spcAft>
              <a:buNone/>
            </a:pPr>
            <a:r>
              <a:rPr lang="en-US" sz="1700" dirty="0">
                <a:solidFill>
                  <a:srgbClr val="16243D"/>
                </a:solidFill>
                <a:latin typeface="Arial" pitchFamily="34" charset="0"/>
                <a:ea typeface="Arial" pitchFamily="34" charset="-122"/>
                <a:cs typeface="Arial" pitchFamily="34" charset="-120"/>
              </a:rPr>
              <a:t>The beach doesn't count: it was ranked third. And notice the cost of a 'free' study day was real: $130.</a:t>
            </a:r>
            <a:endParaRPr lang="en-US" sz="1700" dirty="0"/>
          </a:p>
        </p:txBody>
      </p:sp>
      <p:sp>
        <p:nvSpPr>
          <p:cNvPr id="7" name="Text 4"/>
          <p:cNvSpPr/>
          <p:nvPr/>
        </p:nvSpPr>
        <p:spPr>
          <a:xfrm>
            <a:off x="548640" y="6382512"/>
            <a:ext cx="8229600" cy="320040"/>
          </a:xfrm>
          <a:prstGeom prst="rect">
            <a:avLst/>
          </a:prstGeom>
          <a:noFill/>
          <a:ln/>
        </p:spPr>
        <p:txBody>
          <a:bodyPr wrap="square" lIns="0" tIns="0" rIns="0" bIns="0" rtlCol="0" anchor="ctr"/>
          <a:lstStyle/>
          <a:p>
            <a:pPr indent="0" marL="0">
              <a:buNone/>
            </a:pPr>
            <a:r>
              <a:rPr lang="en-US" sz="1000" b="1" dirty="0">
                <a:solidFill>
                  <a:srgbClr val="16243D"/>
                </a:solidFill>
                <a:latin typeface="Arial" pitchFamily="34" charset="0"/>
                <a:ea typeface="Arial" pitchFamily="34" charset="-122"/>
                <a:cs typeface="Arial" pitchFamily="34" charset="-120"/>
              </a:rPr>
              <a:t>EconKits</a:t>
            </a:r>
            <a:pPr indent="0" marL="0">
              <a:buNone/>
            </a:pPr>
            <a:r>
              <a:rPr lang="en-US" sz="1000" dirty="0">
                <a:solidFill>
                  <a:srgbClr val="5C6270"/>
                </a:solidFill>
                <a:latin typeface="Arial" pitchFamily="34" charset="0"/>
                <a:ea typeface="Arial" pitchFamily="34" charset="-122"/>
                <a:cs typeface="Arial" pitchFamily="34" charset="-120"/>
              </a:rPr>
              <a:t>  ·  Kit 01 · Lesson 1 — The Economic Problem</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600" b="1" dirty="0">
                <a:solidFill>
                  <a:srgbClr val="16243D"/>
                </a:solidFill>
                <a:latin typeface="Arial" pitchFamily="34" charset="0"/>
                <a:ea typeface="Arial" pitchFamily="34" charset="-122"/>
                <a:cs typeface="Arial" pitchFamily="34" charset="-120"/>
              </a:rPr>
              <a:t>The same logic, $700 billion bigger</a:t>
            </a:r>
            <a:endParaRPr lang="en-US" sz="3600" dirty="0"/>
          </a:p>
        </p:txBody>
      </p:sp>
      <p:sp>
        <p:nvSpPr>
          <p:cNvPr id="3" name="Text 1"/>
          <p:cNvSpPr/>
          <p:nvPr/>
        </p:nvSpPr>
        <p:spPr>
          <a:xfrm>
            <a:off x="548640" y="1097280"/>
            <a:ext cx="10789920" cy="457200"/>
          </a:xfrm>
          <a:prstGeom prst="rect">
            <a:avLst/>
          </a:prstGeom>
          <a:noFill/>
          <a:ln/>
        </p:spPr>
        <p:txBody>
          <a:bodyPr wrap="square" rtlCol="0" anchor="ctr"/>
          <a:lstStyle/>
          <a:p>
            <a:pPr indent="0" marL="0">
              <a:buNone/>
            </a:pPr>
            <a:r>
              <a:rPr lang="en-US" sz="1600" dirty="0">
                <a:solidFill>
                  <a:srgbClr val="5C6270"/>
                </a:solidFill>
                <a:latin typeface="Arial" pitchFamily="34" charset="0"/>
                <a:ea typeface="Arial" pitchFamily="34" charset="-122"/>
                <a:cs typeface="Arial" pitchFamily="34" charset="-120"/>
              </a:rPr>
              <a:t>Every May, the federal Budget makes the same kind of choice you just made — with the nation's resources.</a:t>
            </a:r>
            <a:endParaRPr lang="en-US" sz="1600" dirty="0"/>
          </a:p>
        </p:txBody>
      </p:sp>
      <p:sp>
        <p:nvSpPr>
          <p:cNvPr id="4" name="Shape 2"/>
          <p:cNvSpPr/>
          <p:nvPr/>
        </p:nvSpPr>
        <p:spPr>
          <a:xfrm>
            <a:off x="548640" y="1783080"/>
            <a:ext cx="5394960" cy="3017520"/>
          </a:xfrm>
          <a:prstGeom prst="roundRect">
            <a:avLst>
              <a:gd name="adj" fmla="val 2424"/>
            </a:avLst>
          </a:prstGeom>
          <a:solidFill>
            <a:srgbClr val="EDF2F9"/>
          </a:solidFill>
          <a:ln/>
        </p:spPr>
      </p:sp>
      <p:sp>
        <p:nvSpPr>
          <p:cNvPr id="5" name="Text 3"/>
          <p:cNvSpPr/>
          <p:nvPr/>
        </p:nvSpPr>
        <p:spPr>
          <a:xfrm>
            <a:off x="914400" y="2011680"/>
            <a:ext cx="4663440" cy="457200"/>
          </a:xfrm>
          <a:prstGeom prst="rect">
            <a:avLst/>
          </a:prstGeom>
          <a:noFill/>
          <a:ln/>
        </p:spPr>
        <p:txBody>
          <a:bodyPr wrap="square" lIns="0" tIns="0" rIns="0" bIns="0" rtlCol="0" anchor="ctr"/>
          <a:lstStyle/>
          <a:p>
            <a:pPr indent="0" marL="0">
              <a:buNone/>
            </a:pPr>
            <a:r>
              <a:rPr lang="en-US" sz="1600" b="1" dirty="0">
                <a:solidFill>
                  <a:srgbClr val="1F5FA8"/>
                </a:solidFill>
                <a:latin typeface="Arial" pitchFamily="34" charset="0"/>
                <a:ea typeface="Arial" pitchFamily="34" charset="-122"/>
                <a:cs typeface="Arial" pitchFamily="34" charset="-120"/>
              </a:rPr>
              <a:t>Spend $10 billion on…</a:t>
            </a:r>
            <a:endParaRPr lang="en-US" sz="1600" dirty="0"/>
          </a:p>
        </p:txBody>
      </p:sp>
      <p:sp>
        <p:nvSpPr>
          <p:cNvPr id="6" name="Text 4"/>
          <p:cNvSpPr/>
          <p:nvPr/>
        </p:nvSpPr>
        <p:spPr>
          <a:xfrm>
            <a:off x="914400" y="2560320"/>
            <a:ext cx="4754880" cy="2011680"/>
          </a:xfrm>
          <a:prstGeom prst="rect">
            <a:avLst/>
          </a:prstGeom>
          <a:noFill/>
          <a:ln/>
        </p:spPr>
        <p:txBody>
          <a:bodyPr wrap="square" rtlCol="0" anchor="ctr"/>
          <a:lstStyle/>
          <a:p>
            <a:pPr marL="342900" indent="-342900">
              <a:spcAft>
                <a:spcPts val="800"/>
              </a:spcAft>
              <a:buSzPct val="100000"/>
              <a:buChar char="•"/>
            </a:pPr>
            <a:r>
              <a:rPr lang="en-US" sz="1500" dirty="0">
                <a:solidFill>
                  <a:srgbClr val="16243D"/>
                </a:solidFill>
                <a:latin typeface="Arial" pitchFamily="34" charset="0"/>
                <a:ea typeface="Arial" pitchFamily="34" charset="-122"/>
                <a:cs typeface="Arial" pitchFamily="34" charset="-120"/>
              </a:rPr>
              <a:t>New submarines, or</a:t>
            </a:r>
            <a:endParaRPr lang="en-US" sz="1500" dirty="0"/>
          </a:p>
          <a:p>
            <a:pPr marL="342900" indent="-342900">
              <a:spcAft>
                <a:spcPts val="800"/>
              </a:spcAft>
              <a:buSzPct val="100000"/>
              <a:buChar char="•"/>
            </a:pPr>
            <a:r>
              <a:rPr lang="en-US" sz="1500" dirty="0">
                <a:solidFill>
                  <a:srgbClr val="16243D"/>
                </a:solidFill>
                <a:latin typeface="Arial" pitchFamily="34" charset="0"/>
                <a:ea typeface="Arial" pitchFamily="34" charset="-122"/>
                <a:cs typeface="Arial" pitchFamily="34" charset="-120"/>
              </a:rPr>
              <a:t>Cheaper childcare, or</a:t>
            </a:r>
            <a:endParaRPr lang="en-US" sz="1500" dirty="0"/>
          </a:p>
          <a:p>
            <a:pPr marL="342900" indent="-342900">
              <a:spcAft>
                <a:spcPts val="800"/>
              </a:spcAft>
              <a:buSzPct val="100000"/>
              <a:buChar char="•"/>
            </a:pPr>
            <a:r>
              <a:rPr lang="en-US" sz="1500" dirty="0">
                <a:solidFill>
                  <a:srgbClr val="16243D"/>
                </a:solidFill>
                <a:latin typeface="Arial" pitchFamily="34" charset="0"/>
                <a:ea typeface="Arial" pitchFamily="34" charset="-122"/>
                <a:cs typeface="Arial" pitchFamily="34" charset="-120"/>
              </a:rPr>
              <a:t>More Medicare-bulk-billed GP visits, or</a:t>
            </a:r>
            <a:endParaRPr lang="en-US" sz="1500" dirty="0"/>
          </a:p>
          <a:p>
            <a:pPr marL="342900" indent="-342900">
              <a:spcAft>
                <a:spcPts val="800"/>
              </a:spcAft>
              <a:buSzPct val="100000"/>
              <a:buChar char="•"/>
            </a:pPr>
            <a:r>
              <a:rPr lang="en-US" sz="1500" dirty="0">
                <a:solidFill>
                  <a:srgbClr val="16243D"/>
                </a:solidFill>
                <a:latin typeface="Arial" pitchFamily="34" charset="0"/>
                <a:ea typeface="Arial" pitchFamily="34" charset="-122"/>
                <a:cs typeface="Arial" pitchFamily="34" charset="-120"/>
              </a:rPr>
              <a:t>Paying down government debt</a:t>
            </a:r>
            <a:endParaRPr lang="en-US" sz="1500" dirty="0"/>
          </a:p>
        </p:txBody>
      </p:sp>
      <p:sp>
        <p:nvSpPr>
          <p:cNvPr id="7" name="Shape 5"/>
          <p:cNvSpPr/>
          <p:nvPr/>
        </p:nvSpPr>
        <p:spPr>
          <a:xfrm>
            <a:off x="6263640" y="1783080"/>
            <a:ext cx="5394960" cy="3017520"/>
          </a:xfrm>
          <a:prstGeom prst="roundRect">
            <a:avLst>
              <a:gd name="adj" fmla="val 2424"/>
            </a:avLst>
          </a:prstGeom>
          <a:solidFill>
            <a:srgbClr val="FBEBE9"/>
          </a:solidFill>
          <a:ln/>
        </p:spPr>
      </p:sp>
      <p:sp>
        <p:nvSpPr>
          <p:cNvPr id="8" name="Text 6"/>
          <p:cNvSpPr/>
          <p:nvPr/>
        </p:nvSpPr>
        <p:spPr>
          <a:xfrm>
            <a:off x="6629400" y="2011680"/>
            <a:ext cx="4663440" cy="457200"/>
          </a:xfrm>
          <a:prstGeom prst="rect">
            <a:avLst/>
          </a:prstGeom>
          <a:noFill/>
          <a:ln/>
        </p:spPr>
        <p:txBody>
          <a:bodyPr wrap="square" lIns="0" tIns="0" rIns="0" bIns="0" rtlCol="0" anchor="ctr"/>
          <a:lstStyle/>
          <a:p>
            <a:pPr indent="0" marL="0">
              <a:buNone/>
            </a:pPr>
            <a:r>
              <a:rPr lang="en-US" sz="1600" b="1" dirty="0">
                <a:solidFill>
                  <a:srgbClr val="C33D2E"/>
                </a:solidFill>
                <a:latin typeface="Arial" pitchFamily="34" charset="0"/>
                <a:ea typeface="Arial" pitchFamily="34" charset="-122"/>
                <a:cs typeface="Arial" pitchFamily="34" charset="-120"/>
              </a:rPr>
              <a:t>The economist's question</a:t>
            </a:r>
            <a:endParaRPr lang="en-US" sz="1600" dirty="0"/>
          </a:p>
        </p:txBody>
      </p:sp>
      <p:sp>
        <p:nvSpPr>
          <p:cNvPr id="9" name="Text 7"/>
          <p:cNvSpPr/>
          <p:nvPr/>
        </p:nvSpPr>
        <p:spPr>
          <a:xfrm>
            <a:off x="6629400" y="2560320"/>
            <a:ext cx="4663440" cy="2011680"/>
          </a:xfrm>
          <a:prstGeom prst="rect">
            <a:avLst/>
          </a:prstGeom>
          <a:noFill/>
          <a:ln/>
        </p:spPr>
        <p:txBody>
          <a:bodyPr wrap="square" lIns="0" tIns="0" rIns="0" bIns="0" rtlCol="0" anchor="ctr"/>
          <a:lstStyle/>
          <a:p>
            <a:pPr indent="0" marL="0">
              <a:buNone/>
            </a:pPr>
            <a:r>
              <a:rPr lang="en-US" sz="1500" dirty="0">
                <a:solidFill>
                  <a:srgbClr val="16243D"/>
                </a:solidFill>
                <a:latin typeface="Arial" pitchFamily="34" charset="0"/>
                <a:ea typeface="Arial" pitchFamily="34" charset="-122"/>
                <a:cs typeface="Arial" pitchFamily="34" charset="-120"/>
              </a:rPr>
              <a:t>Not 'can we afford it?' — Australia can borrow. The question is: what is the next best use of these resources, and is this choice worth giving that up?</a:t>
            </a:r>
            <a:endParaRPr lang="en-US" sz="1500" dirty="0"/>
          </a:p>
        </p:txBody>
      </p:sp>
      <p:sp>
        <p:nvSpPr>
          <p:cNvPr id="10" name="Text 8"/>
          <p:cNvSpPr/>
          <p:nvPr/>
        </p:nvSpPr>
        <p:spPr>
          <a:xfrm>
            <a:off x="548640" y="5029200"/>
            <a:ext cx="11064240" cy="731520"/>
          </a:xfrm>
          <a:prstGeom prst="rect">
            <a:avLst/>
          </a:prstGeom>
          <a:noFill/>
          <a:ln/>
        </p:spPr>
        <p:txBody>
          <a:bodyPr wrap="square" rtlCol="0" anchor="ctr"/>
          <a:lstStyle/>
          <a:p>
            <a:pPr indent="0" marL="0">
              <a:buNone/>
            </a:pPr>
            <a:r>
              <a:rPr lang="en-US" sz="1400" i="1" dirty="0">
                <a:solidFill>
                  <a:srgbClr val="5C6270"/>
                </a:solidFill>
                <a:latin typeface="Arial" pitchFamily="34" charset="0"/>
                <a:ea typeface="Arial" pitchFamily="34" charset="-122"/>
                <a:cs typeface="Arial" pitchFamily="34" charset="-120"/>
              </a:rPr>
              <a:t>Extension: the builders and engineers on a submarine can't simultaneously build hospitals — the deepest opportunity cost is the real resources, not the dollars.</a:t>
            </a:r>
            <a:endParaRPr lang="en-US" sz="1400" dirty="0"/>
          </a:p>
        </p:txBody>
      </p:sp>
      <p:sp>
        <p:nvSpPr>
          <p:cNvPr id="11" name="Text 9"/>
          <p:cNvSpPr/>
          <p:nvPr/>
        </p:nvSpPr>
        <p:spPr>
          <a:xfrm>
            <a:off x="548640" y="6382512"/>
            <a:ext cx="8229600" cy="320040"/>
          </a:xfrm>
          <a:prstGeom prst="rect">
            <a:avLst/>
          </a:prstGeom>
          <a:noFill/>
          <a:ln/>
        </p:spPr>
        <p:txBody>
          <a:bodyPr wrap="square" lIns="0" tIns="0" rIns="0" bIns="0" rtlCol="0" anchor="ctr"/>
          <a:lstStyle/>
          <a:p>
            <a:pPr indent="0" marL="0">
              <a:buNone/>
            </a:pPr>
            <a:r>
              <a:rPr lang="en-US" sz="1000" b="1" dirty="0">
                <a:solidFill>
                  <a:srgbClr val="16243D"/>
                </a:solidFill>
                <a:latin typeface="Arial" pitchFamily="34" charset="0"/>
                <a:ea typeface="Arial" pitchFamily="34" charset="-122"/>
                <a:cs typeface="Arial" pitchFamily="34" charset="-120"/>
              </a:rPr>
              <a:t>EconKits</a:t>
            </a:r>
            <a:pPr indent="0" marL="0">
              <a:buNone/>
            </a:pPr>
            <a:r>
              <a:rPr lang="en-US" sz="1000" dirty="0">
                <a:solidFill>
                  <a:srgbClr val="5C6270"/>
                </a:solidFill>
                <a:latin typeface="Arial" pitchFamily="34" charset="0"/>
                <a:ea typeface="Arial" pitchFamily="34" charset="-122"/>
                <a:cs typeface="Arial" pitchFamily="34" charset="-120"/>
              </a:rPr>
              <a:t>  ·  Kit 01 · Lesson 1 — The Economic Problem</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43D"/>
        </a:solidFill>
      </p:bgPr>
    </p:bg>
    <p:spTree>
      <p:nvGrpSpPr>
        <p:cNvPr id="1" name=""/>
        <p:cNvGrpSpPr/>
        <p:nvPr/>
      </p:nvGrpSpPr>
      <p:grpSpPr>
        <a:xfrm>
          <a:off x="0" y="0"/>
          <a:ext cx="0" cy="0"/>
          <a:chOff x="0" y="0"/>
          <a:chExt cx="0" cy="0"/>
        </a:xfrm>
      </p:grpSpPr>
      <p:sp>
        <p:nvSpPr>
          <p:cNvPr id="2" name="Text 0"/>
          <p:cNvSpPr/>
          <p:nvPr/>
        </p:nvSpPr>
        <p:spPr>
          <a:xfrm>
            <a:off x="822960" y="502920"/>
            <a:ext cx="10058400" cy="64008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Lock it in</a:t>
            </a:r>
            <a:endParaRPr lang="en-US" sz="3600" dirty="0"/>
          </a:p>
        </p:txBody>
      </p:sp>
      <p:sp>
        <p:nvSpPr>
          <p:cNvPr id="3" name="Text 1"/>
          <p:cNvSpPr/>
          <p:nvPr/>
        </p:nvSpPr>
        <p:spPr>
          <a:xfrm>
            <a:off x="822960" y="1371600"/>
            <a:ext cx="10607040" cy="6400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The economic problem   </a:t>
            </a:r>
            <a:pPr indent="0" marL="0">
              <a:buNone/>
            </a:pPr>
            <a:r>
              <a:rPr lang="en-US" sz="1800" dirty="0">
                <a:solidFill>
                  <a:srgbClr val="CADCFC"/>
                </a:solidFill>
                <a:latin typeface="Arial" pitchFamily="34" charset="0"/>
                <a:ea typeface="Arial" pitchFamily="34" charset="-122"/>
                <a:cs typeface="Arial" pitchFamily="34" charset="-120"/>
              </a:rPr>
              <a:t>unlimited wants vs limited resources</a:t>
            </a:r>
            <a:endParaRPr lang="en-US" sz="1800" dirty="0"/>
          </a:p>
        </p:txBody>
      </p:sp>
      <p:sp>
        <p:nvSpPr>
          <p:cNvPr id="4" name="Text 2"/>
          <p:cNvSpPr/>
          <p:nvPr/>
        </p:nvSpPr>
        <p:spPr>
          <a:xfrm>
            <a:off x="822960" y="2212848"/>
            <a:ext cx="10607040" cy="6400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Scarcity   </a:t>
            </a:r>
            <a:pPr indent="0" marL="0">
              <a:buNone/>
            </a:pPr>
            <a:r>
              <a:rPr lang="en-US" sz="1800" dirty="0">
                <a:solidFill>
                  <a:srgbClr val="CADCFC"/>
                </a:solidFill>
                <a:latin typeface="Arial" pitchFamily="34" charset="0"/>
                <a:ea typeface="Arial" pitchFamily="34" charset="-122"/>
                <a:cs typeface="Arial" pitchFamily="34" charset="-120"/>
              </a:rPr>
              <a:t>permanent, universal — not the same as poverty or shortage</a:t>
            </a:r>
            <a:endParaRPr lang="en-US" sz="1800" dirty="0"/>
          </a:p>
        </p:txBody>
      </p:sp>
      <p:sp>
        <p:nvSpPr>
          <p:cNvPr id="5" name="Text 3"/>
          <p:cNvSpPr/>
          <p:nvPr/>
        </p:nvSpPr>
        <p:spPr>
          <a:xfrm>
            <a:off x="822960" y="3054096"/>
            <a:ext cx="10607040" cy="6400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Four factors   </a:t>
            </a:r>
            <a:pPr indent="0" marL="0">
              <a:buNone/>
            </a:pPr>
            <a:r>
              <a:rPr lang="en-US" sz="1800" dirty="0">
                <a:solidFill>
                  <a:srgbClr val="CADCFC"/>
                </a:solidFill>
                <a:latin typeface="Arial" pitchFamily="34" charset="0"/>
                <a:ea typeface="Arial" pitchFamily="34" charset="-122"/>
                <a:cs typeface="Arial" pitchFamily="34" charset="-120"/>
              </a:rPr>
              <a:t>land, labour, capital, enterprise (capital ≠ money)</a:t>
            </a:r>
            <a:endParaRPr lang="en-US" sz="1800" dirty="0"/>
          </a:p>
        </p:txBody>
      </p:sp>
      <p:sp>
        <p:nvSpPr>
          <p:cNvPr id="6" name="Text 4"/>
          <p:cNvSpPr/>
          <p:nvPr/>
        </p:nvSpPr>
        <p:spPr>
          <a:xfrm>
            <a:off x="822960" y="3895344"/>
            <a:ext cx="10607040" cy="6400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Opportunity cost   </a:t>
            </a:r>
            <a:pPr indent="0" marL="0">
              <a:buNone/>
            </a:pPr>
            <a:r>
              <a:rPr lang="en-US" sz="1800" dirty="0">
                <a:solidFill>
                  <a:srgbClr val="CADCFC"/>
                </a:solidFill>
                <a:latin typeface="Arial" pitchFamily="34" charset="0"/>
                <a:ea typeface="Arial" pitchFamily="34" charset="-122"/>
                <a:cs typeface="Arial" pitchFamily="34" charset="-120"/>
              </a:rPr>
              <a:t>the next best alternative forgone — the one sentence to memorise</a:t>
            </a:r>
            <a:endParaRPr lang="en-US" sz="1800" dirty="0"/>
          </a:p>
        </p:txBody>
      </p:sp>
      <p:sp>
        <p:nvSpPr>
          <p:cNvPr id="7" name="Shape 5"/>
          <p:cNvSpPr/>
          <p:nvPr/>
        </p:nvSpPr>
        <p:spPr>
          <a:xfrm>
            <a:off x="822960" y="4983480"/>
            <a:ext cx="10607040" cy="1234440"/>
          </a:xfrm>
          <a:prstGeom prst="roundRect">
            <a:avLst>
              <a:gd name="adj" fmla="val 5926"/>
            </a:avLst>
          </a:prstGeom>
          <a:solidFill>
            <a:srgbClr val="C33D2E"/>
          </a:solidFill>
          <a:ln/>
        </p:spPr>
      </p:sp>
      <p:sp>
        <p:nvSpPr>
          <p:cNvPr id="8" name="Text 6"/>
          <p:cNvSpPr/>
          <p:nvPr/>
        </p:nvSpPr>
        <p:spPr>
          <a:xfrm>
            <a:off x="1188720" y="5257800"/>
            <a:ext cx="9875520" cy="685800"/>
          </a:xfrm>
          <a:prstGeom prst="rect">
            <a:avLst/>
          </a:prstGeom>
          <a:noFill/>
          <a:ln/>
        </p:spPr>
        <p:txBody>
          <a:bodyPr wrap="square" lIns="0" tIns="0" rIns="0" bIns="0" rtlCol="0" anchor="ctr"/>
          <a:lstStyle/>
          <a:p>
            <a:pPr indent="0" marL="0">
              <a:buNone/>
            </a:pPr>
            <a:r>
              <a:rPr lang="en-US" sz="1900" dirty="0">
                <a:solidFill>
                  <a:srgbClr val="FFFFFF"/>
                </a:solidFill>
                <a:latin typeface="Arial" pitchFamily="34" charset="0"/>
                <a:ea typeface="Arial" pitchFamily="34" charset="-122"/>
                <a:cs typeface="Arial" pitchFamily="34" charset="-120"/>
              </a:rPr>
              <a:t>Now: worksheet questions 1–6, then the online exit quiz — </a:t>
            </a:r>
            <a:pPr indent="0" marL="0">
              <a:buNone/>
            </a:pPr>
            <a:r>
              <a:rPr lang="en-US" sz="1900" b="1" u="sng" dirty="0">
                <a:solidFill>
                  <a:srgbClr val="FFFFFF"/>
                </a:solidFill>
                <a:latin typeface="Arial" pitchFamily="34" charset="0"/>
                <a:ea typeface="Arial" pitchFamily="34" charset="-122"/>
                <a:cs typeface="Arial" pitchFamily="34" charset="-120"/>
              </a:rPr>
              <a:t>econkits.org/students</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2026-07-12T12:42:15Z</dcterms:created>
  <dcterms:modified xsi:type="dcterms:W3CDTF">2026-07-12T12:42:15Z</dcterms:modified>
</cp:coreProperties>
</file>